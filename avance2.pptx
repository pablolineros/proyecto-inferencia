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 Bold" charset="1" panose="020F0702030404030204"/>
      <p:regular r:id="rId22"/>
    </p:embeddedFont>
    <p:embeddedFont>
      <p:font typeface="Calibri (MS)" charset="1" panose="020F0502020204030204"/>
      <p:regular r:id="rId23"/>
    </p:embeddedFont>
    <p:embeddedFont>
      <p:font typeface="Consolas" charset="1" panose="020B060902020403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3419856"/>
            <a:ext cx="17190720" cy="3017520"/>
            <a:chOff x="0" y="0"/>
            <a:chExt cx="22920960" cy="4023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4023360"/>
            </a:xfrm>
            <a:custGeom>
              <a:avLst/>
              <a:gdLst/>
              <a:ahLst/>
              <a:cxnLst/>
              <a:rect r="r" b="b" t="t" l="l"/>
              <a:pathLst>
                <a:path h="4023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005" r="0" b="-610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61925"/>
              <a:ext cx="22920960" cy="418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Eficiencia Hospitalaria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Chile: ¿Quién Tarda Más?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16487" y="7777991"/>
            <a:ext cx="17984219" cy="2521715"/>
            <a:chOff x="0" y="0"/>
            <a:chExt cx="23978959" cy="33622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945088" cy="3328416"/>
            </a:xfrm>
            <a:custGeom>
              <a:avLst/>
              <a:gdLst/>
              <a:ahLst/>
              <a:cxnLst/>
              <a:rect r="r" b="b" t="t" l="l"/>
              <a:pathLst>
                <a:path h="3328416" w="23945088">
                  <a:moveTo>
                    <a:pt x="0" y="0"/>
                  </a:moveTo>
                  <a:lnTo>
                    <a:pt x="23945088" y="0"/>
                  </a:lnTo>
                  <a:lnTo>
                    <a:pt x="23945088" y="3328416"/>
                  </a:lnTo>
                  <a:lnTo>
                    <a:pt x="0" y="3328416"/>
                  </a:lnTo>
                  <a:close/>
                </a:path>
              </a:pathLst>
            </a:custGeom>
            <a:solidFill>
              <a:srgbClr val="091D3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978870" cy="3362198"/>
            </a:xfrm>
            <a:custGeom>
              <a:avLst/>
              <a:gdLst/>
              <a:ahLst/>
              <a:cxnLst/>
              <a:rect r="r" b="b" t="t" l="l"/>
              <a:pathLst>
                <a:path h="3362198" w="23978870">
                  <a:moveTo>
                    <a:pt x="16891" y="0"/>
                  </a:moveTo>
                  <a:lnTo>
                    <a:pt x="23961979" y="0"/>
                  </a:lnTo>
                  <a:cubicBezTo>
                    <a:pt x="23971377" y="0"/>
                    <a:pt x="23978870" y="7620"/>
                    <a:pt x="23978870" y="16891"/>
                  </a:cubicBezTo>
                  <a:lnTo>
                    <a:pt x="23978870" y="3345307"/>
                  </a:lnTo>
                  <a:cubicBezTo>
                    <a:pt x="23978870" y="3354705"/>
                    <a:pt x="23971250" y="3362198"/>
                    <a:pt x="23961979" y="3362198"/>
                  </a:cubicBezTo>
                  <a:lnTo>
                    <a:pt x="16891" y="3362198"/>
                  </a:lnTo>
                  <a:cubicBezTo>
                    <a:pt x="7493" y="3362198"/>
                    <a:pt x="0" y="3354578"/>
                    <a:pt x="0" y="3345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45307"/>
                  </a:lnTo>
                  <a:lnTo>
                    <a:pt x="16891" y="3345307"/>
                  </a:lnTo>
                  <a:lnTo>
                    <a:pt x="16891" y="3328416"/>
                  </a:lnTo>
                  <a:lnTo>
                    <a:pt x="23961979" y="3328416"/>
                  </a:lnTo>
                  <a:lnTo>
                    <a:pt x="23961979" y="3345307"/>
                  </a:lnTo>
                  <a:lnTo>
                    <a:pt x="23945089" y="3345307"/>
                  </a:lnTo>
                  <a:lnTo>
                    <a:pt x="23945089" y="16891"/>
                  </a:lnTo>
                  <a:lnTo>
                    <a:pt x="23961979" y="16891"/>
                  </a:lnTo>
                  <a:lnTo>
                    <a:pt x="239619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91D3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58368" y="7955280"/>
            <a:ext cx="17190720" cy="585216"/>
            <a:chOff x="0" y="0"/>
            <a:chExt cx="2292096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92096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Pablo Lineros  ·  Valentin Castro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8368" y="8558784"/>
            <a:ext cx="17190720" cy="512064"/>
            <a:chOff x="0" y="0"/>
            <a:chExt cx="2292096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920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AA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Profesor: Cristian Orlando García Gutiérrez  ·  Ayudante: Benjamin Joseph Bennett Ramírez  ·  11 de mayo de 2026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323336"/>
            <a:ext cx="3722913" cy="1249861"/>
            <a:chOff x="0" y="0"/>
            <a:chExt cx="4963884" cy="1666481"/>
          </a:xfrm>
        </p:grpSpPr>
        <p:sp>
          <p:nvSpPr>
            <p:cNvPr name="Freeform 18" id="18" descr="Logos - Imagen UDD"/>
            <p:cNvSpPr/>
            <p:nvPr/>
          </p:nvSpPr>
          <p:spPr>
            <a:xfrm flipH="false" flipV="false" rot="0">
              <a:off x="0" y="0"/>
              <a:ext cx="4963922" cy="1666494"/>
            </a:xfrm>
            <a:custGeom>
              <a:avLst/>
              <a:gdLst/>
              <a:ahLst/>
              <a:cxnLst/>
              <a:rect r="r" b="b" t="t" l="l"/>
              <a:pathLst>
                <a:path h="1666494" w="4963922">
                  <a:moveTo>
                    <a:pt x="0" y="0"/>
                  </a:moveTo>
                  <a:lnTo>
                    <a:pt x="4963922" y="0"/>
                  </a:lnTo>
                  <a:lnTo>
                    <a:pt x="4963922" y="1666494"/>
                  </a:lnTo>
                  <a:lnTo>
                    <a:pt x="0" y="1666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Pregunta de Investigación, Hipótesis y Variables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682496"/>
            <a:ext cx="17190720" cy="1426464"/>
            <a:chOff x="0" y="0"/>
            <a:chExt cx="22920960" cy="1901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EEF6F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35943" y="1669799"/>
            <a:ext cx="171707" cy="1451867"/>
            <a:chOff x="0" y="0"/>
            <a:chExt cx="228943" cy="19358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9507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854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918843"/>
                  </a:lnTo>
                  <a:cubicBezTo>
                    <a:pt x="228854" y="1928241"/>
                    <a:pt x="221234" y="1935734"/>
                    <a:pt x="211963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11963" y="1901952"/>
                  </a:lnTo>
                  <a:lnTo>
                    <a:pt x="211963" y="1918843"/>
                  </a:lnTo>
                  <a:lnTo>
                    <a:pt x="195072" y="19188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77824" y="1682496"/>
            <a:ext cx="16678656" cy="1426464"/>
            <a:chOff x="0" y="0"/>
            <a:chExt cx="22238208" cy="19019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38208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238208">
                  <a:moveTo>
                    <a:pt x="0" y="0"/>
                  </a:moveTo>
                  <a:lnTo>
                    <a:pt x="22238208" y="0"/>
                  </a:lnTo>
                  <a:lnTo>
                    <a:pt x="2223820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825" r="0" b="-1778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2238208" cy="1959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¿Existen hospitales con estancias sistemáticamente más largas para diagnósticos similares, y qué factores (complejidad clínica, ocupación, rotación y pandemia) explican esas diferencias?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8640" y="3401568"/>
            <a:ext cx="17190720" cy="512064"/>
            <a:chOff x="0" y="0"/>
            <a:chExt cx="2292096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29209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Hipótesis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943" y="3974087"/>
            <a:ext cx="8346443" cy="1268987"/>
            <a:chOff x="0" y="0"/>
            <a:chExt cx="11128591" cy="16919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110947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3E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28501" cy="1691894"/>
            </a:xfrm>
            <a:custGeom>
              <a:avLst/>
              <a:gdLst/>
              <a:ahLst/>
              <a:cxnLst/>
              <a:rect r="r" b="b" t="t" l="l"/>
              <a:pathLst>
                <a:path h="169189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75003"/>
                  </a:lnTo>
                  <a:cubicBezTo>
                    <a:pt x="11128501" y="1684401"/>
                    <a:pt x="11120882" y="1691894"/>
                    <a:pt x="1111161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1111611" y="1658112"/>
                  </a:lnTo>
                  <a:lnTo>
                    <a:pt x="11111611" y="1675003"/>
                  </a:lnTo>
                  <a:lnTo>
                    <a:pt x="11094720" y="167500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46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94944" y="3986784"/>
            <a:ext cx="731520" cy="1243584"/>
            <a:chOff x="0" y="0"/>
            <a:chExt cx="975360" cy="16581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" cy="1658112"/>
            </a:xfrm>
            <a:custGeom>
              <a:avLst/>
              <a:gdLst/>
              <a:ahLst/>
              <a:cxnLst/>
              <a:rect r="r" b="b" t="t" l="l"/>
              <a:pathLst>
                <a:path h="1658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8116" t="0" r="-16811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975360" cy="1724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4A4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H₀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36192" y="3986784"/>
            <a:ext cx="7187184" cy="1243584"/>
            <a:chOff x="0" y="0"/>
            <a:chExt cx="9582912" cy="16581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829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9582912">
                  <a:moveTo>
                    <a:pt x="0" y="0"/>
                  </a:moveTo>
                  <a:lnTo>
                    <a:pt x="9582912" y="0"/>
                  </a:lnTo>
                  <a:lnTo>
                    <a:pt x="95829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12" r="0" b="-6261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582912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estancia promedio no difiere entre hospitales una vez controlado por área funcional, ocupación, rotación y pandemia.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05623" y="3974087"/>
            <a:ext cx="8346443" cy="1268987"/>
            <a:chOff x="0" y="0"/>
            <a:chExt cx="11128591" cy="1691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10947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28501" cy="1691894"/>
            </a:xfrm>
            <a:custGeom>
              <a:avLst/>
              <a:gdLst/>
              <a:ahLst/>
              <a:cxnLst/>
              <a:rect r="r" b="b" t="t" l="l"/>
              <a:pathLst>
                <a:path h="169189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75003"/>
                  </a:lnTo>
                  <a:cubicBezTo>
                    <a:pt x="11128501" y="1684401"/>
                    <a:pt x="11120882" y="1691894"/>
                    <a:pt x="1111161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1111611" y="1658112"/>
                  </a:lnTo>
                  <a:lnTo>
                    <a:pt x="11111611" y="1675003"/>
                  </a:lnTo>
                  <a:lnTo>
                    <a:pt x="11094720" y="167500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64624" y="3986784"/>
            <a:ext cx="731520" cy="1243584"/>
            <a:chOff x="0" y="0"/>
            <a:chExt cx="975360" cy="16581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5360" cy="1658112"/>
            </a:xfrm>
            <a:custGeom>
              <a:avLst/>
              <a:gdLst/>
              <a:ahLst/>
              <a:cxnLst/>
              <a:rect r="r" b="b" t="t" l="l"/>
              <a:pathLst>
                <a:path h="1658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8116" t="0" r="-168116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975360" cy="1724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H₁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405872" y="3986784"/>
            <a:ext cx="7187184" cy="1243584"/>
            <a:chOff x="0" y="0"/>
            <a:chExt cx="9582912" cy="16581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829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9582912">
                  <a:moveTo>
                    <a:pt x="0" y="0"/>
                  </a:moveTo>
                  <a:lnTo>
                    <a:pt x="9582912" y="0"/>
                  </a:lnTo>
                  <a:lnTo>
                    <a:pt x="95829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12" r="0" b="-6261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582912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 menos una variable independiente tiene efecto significativo sobre la estancia promedio.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48640" y="5559552"/>
            <a:ext cx="17190720" cy="512064"/>
            <a:chOff x="0" y="0"/>
            <a:chExt cx="2292096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229209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Variables del modelo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5943" y="6132071"/>
            <a:ext cx="17216123" cy="574043"/>
            <a:chOff x="0" y="0"/>
            <a:chExt cx="22954831" cy="76539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2292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954743" cy="765304"/>
            </a:xfrm>
            <a:custGeom>
              <a:avLst/>
              <a:gdLst/>
              <a:ahLst/>
              <a:cxnLst/>
              <a:rect r="r" b="b" t="t" l="l"/>
              <a:pathLst>
                <a:path h="765304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748411"/>
                  </a:lnTo>
                  <a:cubicBezTo>
                    <a:pt x="22954743" y="757809"/>
                    <a:pt x="22947123" y="765302"/>
                    <a:pt x="2293785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2937851" y="731520"/>
                  </a:lnTo>
                  <a:lnTo>
                    <a:pt x="22937851" y="748411"/>
                  </a:lnTo>
                  <a:lnTo>
                    <a:pt x="22920961" y="74841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40080" y="6144768"/>
            <a:ext cx="2468880" cy="548640"/>
            <a:chOff x="0" y="0"/>
            <a:chExt cx="329184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200400" y="6144768"/>
            <a:ext cx="4663440" cy="548640"/>
            <a:chOff x="0" y="0"/>
            <a:chExt cx="62179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955280" y="6144768"/>
            <a:ext cx="2834640" cy="548640"/>
            <a:chOff x="0" y="0"/>
            <a:chExt cx="37795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7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779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Tipo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881360" y="6144768"/>
            <a:ext cx="6858000" cy="548640"/>
            <a:chOff x="0" y="0"/>
            <a:chExt cx="914400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144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Justificación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35943" y="6753863"/>
            <a:ext cx="17216123" cy="537467"/>
            <a:chOff x="0" y="0"/>
            <a:chExt cx="22954831" cy="71662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40080" y="6766560"/>
            <a:ext cx="2468880" cy="512064"/>
            <a:chOff x="0" y="0"/>
            <a:chExt cx="3291840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Dependiente (Y)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200400" y="6766560"/>
            <a:ext cx="4663440" cy="512064"/>
            <a:chOff x="0" y="0"/>
            <a:chExt cx="621792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PROMEDIO_DIAS_ESTADA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955280" y="6766560"/>
            <a:ext cx="2834640" cy="512064"/>
            <a:chOff x="0" y="0"/>
            <a:chExt cx="377952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Continua — asimétrica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881360" y="6766560"/>
            <a:ext cx="6858000" cy="512064"/>
            <a:chOff x="0" y="0"/>
            <a:chExt cx="914400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Días de estancia hospitalaria · variable a explicar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35943" y="7302503"/>
            <a:ext cx="17216123" cy="537467"/>
            <a:chOff x="0" y="0"/>
            <a:chExt cx="22954831" cy="71662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40080" y="7315200"/>
            <a:ext cx="2468880" cy="512064"/>
            <a:chOff x="0" y="0"/>
            <a:chExt cx="3291840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Independiente X₁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3200400" y="7315200"/>
            <a:ext cx="4663440" cy="512064"/>
            <a:chOff x="0" y="0"/>
            <a:chExt cx="6217920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AREA_FUNCIONAL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955280" y="7315200"/>
            <a:ext cx="2834640" cy="512064"/>
            <a:chOff x="0" y="0"/>
            <a:chExt cx="377952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Categórica (9 niveles)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881360" y="7315200"/>
            <a:ext cx="6858000" cy="512064"/>
            <a:chOff x="0" y="0"/>
            <a:chExt cx="9144000" cy="6827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Controla complejidad clínica del servicio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535943" y="7851143"/>
            <a:ext cx="17216123" cy="537467"/>
            <a:chOff x="0" y="0"/>
            <a:chExt cx="22954831" cy="71662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40080" y="7863840"/>
            <a:ext cx="2468880" cy="512064"/>
            <a:chOff x="0" y="0"/>
            <a:chExt cx="3291840" cy="6827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Independiente X₂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3200400" y="7863840"/>
            <a:ext cx="4663440" cy="512064"/>
            <a:chOff x="0" y="0"/>
            <a:chExt cx="6217920" cy="682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INDICE_OCUPACIONAL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955280" y="7863840"/>
            <a:ext cx="2834640" cy="512064"/>
            <a:chOff x="0" y="0"/>
            <a:chExt cx="3779520" cy="6827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Continua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881360" y="7863840"/>
            <a:ext cx="6858000" cy="512064"/>
            <a:chOff x="0" y="0"/>
            <a:chExt cx="9144000" cy="6827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% camas ocupadas · mide saturación del servicio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535943" y="8399783"/>
            <a:ext cx="17216123" cy="537467"/>
            <a:chOff x="0" y="0"/>
            <a:chExt cx="22954831" cy="71662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640080" y="8412480"/>
            <a:ext cx="2468880" cy="512064"/>
            <a:chOff x="0" y="0"/>
            <a:chExt cx="3291840" cy="6827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Independiente X₃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3200400" y="8412480"/>
            <a:ext cx="4663440" cy="512064"/>
            <a:chOff x="0" y="0"/>
            <a:chExt cx="6217920" cy="68275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INDICE_ROTACION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7955280" y="8412480"/>
            <a:ext cx="2834640" cy="512064"/>
            <a:chOff x="0" y="0"/>
            <a:chExt cx="3779520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Continua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881360" y="8412480"/>
            <a:ext cx="6858000" cy="512064"/>
            <a:chOff x="0" y="0"/>
            <a:chExt cx="9144000" cy="68275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Egresos por cama · mide eficiencia de uso de camas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535943" y="8948423"/>
            <a:ext cx="17216123" cy="537467"/>
            <a:chOff x="0" y="0"/>
            <a:chExt cx="22954831" cy="71662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640080" y="8961120"/>
            <a:ext cx="2468880" cy="512064"/>
            <a:chOff x="0" y="0"/>
            <a:chExt cx="3291840" cy="6827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Independiente X₄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3200400" y="8961120"/>
            <a:ext cx="4663440" cy="512064"/>
            <a:chOff x="0" y="0"/>
            <a:chExt cx="6217920" cy="68275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pandemia (2020–21)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7955280" y="8961120"/>
            <a:ext cx="2834640" cy="512064"/>
            <a:chOff x="0" y="0"/>
            <a:chExt cx="3779520" cy="68275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Binaria (0/1)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0881360" y="8961120"/>
            <a:ext cx="6858000" cy="512064"/>
            <a:chOff x="0" y="0"/>
            <a:chExt cx="9144000" cy="68275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Captura el efecto COVID-19 sobre la estancia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08091" y="4072052"/>
            <a:ext cx="7860506" cy="537467"/>
            <a:chOff x="0" y="0"/>
            <a:chExt cx="10480675" cy="7166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446893" cy="682752"/>
            </a:xfrm>
            <a:custGeom>
              <a:avLst/>
              <a:gdLst/>
              <a:ahLst/>
              <a:cxnLst/>
              <a:rect r="r" b="b" t="t" l="l"/>
              <a:pathLst>
                <a:path h="682752" w="10446893">
                  <a:moveTo>
                    <a:pt x="0" y="0"/>
                  </a:moveTo>
                  <a:lnTo>
                    <a:pt x="10446893" y="0"/>
                  </a:lnTo>
                  <a:lnTo>
                    <a:pt x="10446893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0675" cy="716536"/>
            </a:xfrm>
            <a:custGeom>
              <a:avLst/>
              <a:gdLst/>
              <a:ahLst/>
              <a:cxnLst/>
              <a:rect r="r" b="b" t="t" l="l"/>
              <a:pathLst>
                <a:path h="716536" w="10480675">
                  <a:moveTo>
                    <a:pt x="16891" y="0"/>
                  </a:moveTo>
                  <a:lnTo>
                    <a:pt x="10463784" y="0"/>
                  </a:lnTo>
                  <a:cubicBezTo>
                    <a:pt x="10473182" y="0"/>
                    <a:pt x="10480675" y="7620"/>
                    <a:pt x="10480675" y="16891"/>
                  </a:cubicBezTo>
                  <a:lnTo>
                    <a:pt x="10480675" y="699643"/>
                  </a:lnTo>
                  <a:cubicBezTo>
                    <a:pt x="10480675" y="709041"/>
                    <a:pt x="10473055" y="716534"/>
                    <a:pt x="10463784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0463784" y="682752"/>
                  </a:lnTo>
                  <a:lnTo>
                    <a:pt x="10463784" y="699643"/>
                  </a:lnTo>
                  <a:lnTo>
                    <a:pt x="10446893" y="699643"/>
                  </a:lnTo>
                  <a:lnTo>
                    <a:pt x="10446893" y="16891"/>
                  </a:lnTo>
                  <a:lnTo>
                    <a:pt x="10463784" y="16891"/>
                  </a:lnTo>
                  <a:lnTo>
                    <a:pt x="1046378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8501" y="4073004"/>
            <a:ext cx="8822655" cy="512064"/>
            <a:chOff x="0" y="0"/>
            <a:chExt cx="1176354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63539" cy="682752"/>
            </a:xfrm>
            <a:custGeom>
              <a:avLst/>
              <a:gdLst/>
              <a:ahLst/>
              <a:cxnLst/>
              <a:rect r="r" b="b" t="t" l="l"/>
              <a:pathLst>
                <a:path h="682752" w="11763539">
                  <a:moveTo>
                    <a:pt x="0" y="0"/>
                  </a:moveTo>
                  <a:lnTo>
                    <a:pt x="11763539" y="0"/>
                  </a:lnTo>
                  <a:lnTo>
                    <a:pt x="117635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19" r="0" b="-28571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176354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Histograma — Distribución de Estancia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941" y="4628502"/>
            <a:ext cx="754771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rPr>
              <a:t>Confirma asimetría positiva. Concentración bajo 10 días con cola hacia la derecha.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3680" y="2121408"/>
            <a:ext cx="5230368" cy="512064"/>
            <a:chOff x="0" y="0"/>
            <a:chExt cx="6973824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Pre-pandemia vs Pandemia vs Post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2416" y="5961888"/>
            <a:ext cx="5230368" cy="512064"/>
            <a:chOff x="0" y="0"/>
            <a:chExt cx="6973824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32232" y="2743200"/>
            <a:ext cx="7697276" cy="6020638"/>
            <a:chOff x="0" y="0"/>
            <a:chExt cx="10263035" cy="80275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62997" cy="8027543"/>
            </a:xfrm>
            <a:custGeom>
              <a:avLst/>
              <a:gdLst/>
              <a:ahLst/>
              <a:cxnLst/>
              <a:rect r="r" b="b" t="t" l="l"/>
              <a:pathLst>
                <a:path h="8027543" w="10262997">
                  <a:moveTo>
                    <a:pt x="0" y="0"/>
                  </a:moveTo>
                  <a:lnTo>
                    <a:pt x="10262997" y="0"/>
                  </a:lnTo>
                  <a:lnTo>
                    <a:pt x="10262997" y="8027543"/>
                  </a:lnTo>
                  <a:lnTo>
                    <a:pt x="0" y="802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091" y="3458013"/>
            <a:ext cx="7367816" cy="1194616"/>
            <a:chOff x="0" y="0"/>
            <a:chExt cx="9823755" cy="1592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789922" cy="1559052"/>
            </a:xfrm>
            <a:custGeom>
              <a:avLst/>
              <a:gdLst/>
              <a:ahLst/>
              <a:cxnLst/>
              <a:rect r="r" b="b" t="t" l="l"/>
              <a:pathLst>
                <a:path h="1559052" w="9789922">
                  <a:moveTo>
                    <a:pt x="0" y="0"/>
                  </a:moveTo>
                  <a:lnTo>
                    <a:pt x="9789922" y="0"/>
                  </a:lnTo>
                  <a:lnTo>
                    <a:pt x="9789922" y="1559052"/>
                  </a:lnTo>
                  <a:lnTo>
                    <a:pt x="0" y="1559052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23704" cy="1592834"/>
            </a:xfrm>
            <a:custGeom>
              <a:avLst/>
              <a:gdLst/>
              <a:ahLst/>
              <a:cxnLst/>
              <a:rect r="r" b="b" t="t" l="l"/>
              <a:pathLst>
                <a:path h="1592834" w="9823704">
                  <a:moveTo>
                    <a:pt x="16891" y="0"/>
                  </a:moveTo>
                  <a:lnTo>
                    <a:pt x="9806813" y="0"/>
                  </a:lnTo>
                  <a:cubicBezTo>
                    <a:pt x="9816211" y="0"/>
                    <a:pt x="9823704" y="7620"/>
                    <a:pt x="9823704" y="16891"/>
                  </a:cubicBezTo>
                  <a:lnTo>
                    <a:pt x="9823704" y="1575943"/>
                  </a:lnTo>
                  <a:cubicBezTo>
                    <a:pt x="9823704" y="1585341"/>
                    <a:pt x="9816084" y="1592834"/>
                    <a:pt x="9806813" y="1592834"/>
                  </a:cubicBezTo>
                  <a:lnTo>
                    <a:pt x="16891" y="1592834"/>
                  </a:lnTo>
                  <a:cubicBezTo>
                    <a:pt x="7493" y="1592834"/>
                    <a:pt x="0" y="1585214"/>
                    <a:pt x="0" y="15759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5943"/>
                  </a:lnTo>
                  <a:lnTo>
                    <a:pt x="16891" y="1575943"/>
                  </a:lnTo>
                  <a:lnTo>
                    <a:pt x="16891" y="1559052"/>
                  </a:lnTo>
                  <a:lnTo>
                    <a:pt x="9806813" y="1559052"/>
                  </a:lnTo>
                  <a:lnTo>
                    <a:pt x="9806813" y="1575943"/>
                  </a:lnTo>
                  <a:lnTo>
                    <a:pt x="9789922" y="1575943"/>
                  </a:lnTo>
                  <a:lnTo>
                    <a:pt x="9789922" y="16891"/>
                  </a:lnTo>
                  <a:lnTo>
                    <a:pt x="9806813" y="16891"/>
                  </a:lnTo>
                  <a:lnTo>
                    <a:pt x="980681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0788" y="3799294"/>
            <a:ext cx="5235397" cy="512064"/>
            <a:chOff x="0" y="0"/>
            <a:chExt cx="698053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0528" cy="682752"/>
            </a:xfrm>
            <a:custGeom>
              <a:avLst/>
              <a:gdLst/>
              <a:ahLst/>
              <a:cxnLst/>
              <a:rect r="r" b="b" t="t" l="l"/>
              <a:pathLst>
                <a:path h="682752" w="6980528">
                  <a:moveTo>
                    <a:pt x="0" y="0"/>
                  </a:moveTo>
                  <a:lnTo>
                    <a:pt x="6980528" y="0"/>
                  </a:lnTo>
                  <a:lnTo>
                    <a:pt x="69805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17" r="0" b="-14921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98053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Pre-pandemia vs Pandemia vs Post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941" y="4628502"/>
            <a:ext cx="7547715" cy="27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rPr>
              <a:t>La mediana es visiblemente mayor en 2020–21. El período post-pandemia muestra una recuperación parcial.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3680" y="2121408"/>
            <a:ext cx="5230368" cy="512064"/>
            <a:chOff x="0" y="0"/>
            <a:chExt cx="6973824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Pre-pandemia vs Pandemia vs Post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2416" y="5961888"/>
            <a:ext cx="5230368" cy="512064"/>
            <a:chOff x="0" y="0"/>
            <a:chExt cx="6973824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79156" y="2970219"/>
            <a:ext cx="7392429" cy="5734850"/>
            <a:chOff x="0" y="0"/>
            <a:chExt cx="9856572" cy="76464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56597" cy="7646416"/>
            </a:xfrm>
            <a:custGeom>
              <a:avLst/>
              <a:gdLst/>
              <a:ahLst/>
              <a:cxnLst/>
              <a:rect r="r" b="b" t="t" l="l"/>
              <a:pathLst>
                <a:path h="7646416" w="9856597">
                  <a:moveTo>
                    <a:pt x="0" y="0"/>
                  </a:moveTo>
                  <a:lnTo>
                    <a:pt x="9856597" y="0"/>
                  </a:lnTo>
                  <a:lnTo>
                    <a:pt x="9856597" y="7646416"/>
                  </a:lnTo>
                  <a:lnTo>
                    <a:pt x="0" y="7646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091" y="3458013"/>
            <a:ext cx="7367816" cy="1194616"/>
            <a:chOff x="0" y="0"/>
            <a:chExt cx="9823755" cy="1592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789922" cy="1559052"/>
            </a:xfrm>
            <a:custGeom>
              <a:avLst/>
              <a:gdLst/>
              <a:ahLst/>
              <a:cxnLst/>
              <a:rect r="r" b="b" t="t" l="l"/>
              <a:pathLst>
                <a:path h="1559052" w="9789922">
                  <a:moveTo>
                    <a:pt x="0" y="0"/>
                  </a:moveTo>
                  <a:lnTo>
                    <a:pt x="9789922" y="0"/>
                  </a:lnTo>
                  <a:lnTo>
                    <a:pt x="9789922" y="1559052"/>
                  </a:lnTo>
                  <a:lnTo>
                    <a:pt x="0" y="1559052"/>
                  </a:lnTo>
                  <a:close/>
                </a:path>
              </a:pathLst>
            </a:custGeom>
            <a:solidFill>
              <a:srgbClr val="22B09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23704" cy="1592834"/>
            </a:xfrm>
            <a:custGeom>
              <a:avLst/>
              <a:gdLst/>
              <a:ahLst/>
              <a:cxnLst/>
              <a:rect r="r" b="b" t="t" l="l"/>
              <a:pathLst>
                <a:path h="1592834" w="9823704">
                  <a:moveTo>
                    <a:pt x="16891" y="0"/>
                  </a:moveTo>
                  <a:lnTo>
                    <a:pt x="9806813" y="0"/>
                  </a:lnTo>
                  <a:cubicBezTo>
                    <a:pt x="9816211" y="0"/>
                    <a:pt x="9823704" y="7620"/>
                    <a:pt x="9823704" y="16891"/>
                  </a:cubicBezTo>
                  <a:lnTo>
                    <a:pt x="9823704" y="1575943"/>
                  </a:lnTo>
                  <a:cubicBezTo>
                    <a:pt x="9823704" y="1585341"/>
                    <a:pt x="9816084" y="1592834"/>
                    <a:pt x="9806813" y="1592834"/>
                  </a:cubicBezTo>
                  <a:lnTo>
                    <a:pt x="16891" y="1592834"/>
                  </a:lnTo>
                  <a:cubicBezTo>
                    <a:pt x="7493" y="1592834"/>
                    <a:pt x="0" y="1585214"/>
                    <a:pt x="0" y="15759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5943"/>
                  </a:lnTo>
                  <a:lnTo>
                    <a:pt x="16891" y="1575943"/>
                  </a:lnTo>
                  <a:lnTo>
                    <a:pt x="16891" y="1559052"/>
                  </a:lnTo>
                  <a:lnTo>
                    <a:pt x="9806813" y="1559052"/>
                  </a:lnTo>
                  <a:lnTo>
                    <a:pt x="9806813" y="1575943"/>
                  </a:lnTo>
                  <a:lnTo>
                    <a:pt x="9789922" y="1575943"/>
                  </a:lnTo>
                  <a:lnTo>
                    <a:pt x="9789922" y="16891"/>
                  </a:lnTo>
                  <a:lnTo>
                    <a:pt x="9806813" y="16891"/>
                  </a:lnTo>
                  <a:lnTo>
                    <a:pt x="980681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B09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0788" y="3799294"/>
            <a:ext cx="5235397" cy="512064"/>
            <a:chOff x="0" y="0"/>
            <a:chExt cx="698053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0528" cy="682752"/>
            </a:xfrm>
            <a:custGeom>
              <a:avLst/>
              <a:gdLst/>
              <a:ahLst/>
              <a:cxnLst/>
              <a:rect r="r" b="b" t="t" l="l"/>
              <a:pathLst>
                <a:path h="682752" w="6980528">
                  <a:moveTo>
                    <a:pt x="0" y="0"/>
                  </a:moveTo>
                  <a:lnTo>
                    <a:pt x="6980528" y="0"/>
                  </a:lnTo>
                  <a:lnTo>
                    <a:pt x="69805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17" r="0" b="-14921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98053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Evolución Temporal 2014–2025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941" y="4628502"/>
            <a:ext cx="7547715" cy="27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rPr>
              <a:t>Media y mediana estables hasta 2019, alza en pandemia y tendencia descendente posterior. El sistema mostró resiliencia.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3680" y="2121408"/>
            <a:ext cx="5230368" cy="512064"/>
            <a:chOff x="0" y="0"/>
            <a:chExt cx="6973824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Pre-pandemia vs Pandemia vs Post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2416" y="5961888"/>
            <a:ext cx="5230368" cy="512064"/>
            <a:chOff x="0" y="0"/>
            <a:chExt cx="6973824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98914" y="2830420"/>
            <a:ext cx="6839903" cy="5906329"/>
            <a:chOff x="0" y="0"/>
            <a:chExt cx="9119870" cy="78751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19870" cy="7875143"/>
            </a:xfrm>
            <a:custGeom>
              <a:avLst/>
              <a:gdLst/>
              <a:ahLst/>
              <a:cxnLst/>
              <a:rect r="r" b="b" t="t" l="l"/>
              <a:pathLst>
                <a:path h="7875143" w="9119870">
                  <a:moveTo>
                    <a:pt x="0" y="0"/>
                  </a:moveTo>
                  <a:lnTo>
                    <a:pt x="9119870" y="0"/>
                  </a:lnTo>
                  <a:lnTo>
                    <a:pt x="9119870" y="7875143"/>
                  </a:lnTo>
                  <a:lnTo>
                    <a:pt x="0" y="7875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091" y="3458013"/>
            <a:ext cx="7367816" cy="1194616"/>
            <a:chOff x="0" y="0"/>
            <a:chExt cx="9823755" cy="1592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789922" cy="1559052"/>
            </a:xfrm>
            <a:custGeom>
              <a:avLst/>
              <a:gdLst/>
              <a:ahLst/>
              <a:cxnLst/>
              <a:rect r="r" b="b" t="t" l="l"/>
              <a:pathLst>
                <a:path h="1559052" w="9789922">
                  <a:moveTo>
                    <a:pt x="0" y="0"/>
                  </a:moveTo>
                  <a:lnTo>
                    <a:pt x="9789922" y="0"/>
                  </a:lnTo>
                  <a:lnTo>
                    <a:pt x="9789922" y="1559052"/>
                  </a:lnTo>
                  <a:lnTo>
                    <a:pt x="0" y="1559052"/>
                  </a:lnTo>
                  <a:close/>
                </a:path>
              </a:pathLst>
            </a:custGeom>
            <a:solidFill>
              <a:srgbClr val="A55D4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23704" cy="1592834"/>
            </a:xfrm>
            <a:custGeom>
              <a:avLst/>
              <a:gdLst/>
              <a:ahLst/>
              <a:cxnLst/>
              <a:rect r="r" b="b" t="t" l="l"/>
              <a:pathLst>
                <a:path h="1592834" w="9823704">
                  <a:moveTo>
                    <a:pt x="16891" y="0"/>
                  </a:moveTo>
                  <a:lnTo>
                    <a:pt x="9806813" y="0"/>
                  </a:lnTo>
                  <a:cubicBezTo>
                    <a:pt x="9816211" y="0"/>
                    <a:pt x="9823704" y="7620"/>
                    <a:pt x="9823704" y="16891"/>
                  </a:cubicBezTo>
                  <a:lnTo>
                    <a:pt x="9823704" y="1575943"/>
                  </a:lnTo>
                  <a:cubicBezTo>
                    <a:pt x="9823704" y="1585341"/>
                    <a:pt x="9816084" y="1592834"/>
                    <a:pt x="9806813" y="1592834"/>
                  </a:cubicBezTo>
                  <a:lnTo>
                    <a:pt x="16891" y="1592834"/>
                  </a:lnTo>
                  <a:cubicBezTo>
                    <a:pt x="7493" y="1592834"/>
                    <a:pt x="0" y="1585214"/>
                    <a:pt x="0" y="15759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5943"/>
                  </a:lnTo>
                  <a:lnTo>
                    <a:pt x="16891" y="1575943"/>
                  </a:lnTo>
                  <a:lnTo>
                    <a:pt x="16891" y="1559052"/>
                  </a:lnTo>
                  <a:lnTo>
                    <a:pt x="9806813" y="1559052"/>
                  </a:lnTo>
                  <a:lnTo>
                    <a:pt x="9806813" y="1575943"/>
                  </a:lnTo>
                  <a:lnTo>
                    <a:pt x="9789922" y="1575943"/>
                  </a:lnTo>
                  <a:lnTo>
                    <a:pt x="9789922" y="16891"/>
                  </a:lnTo>
                  <a:lnTo>
                    <a:pt x="9806813" y="16891"/>
                  </a:lnTo>
                  <a:lnTo>
                    <a:pt x="980681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55D4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0788" y="3799294"/>
            <a:ext cx="5235397" cy="512064"/>
            <a:chOff x="0" y="0"/>
            <a:chExt cx="698053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0528" cy="682752"/>
            </a:xfrm>
            <a:custGeom>
              <a:avLst/>
              <a:gdLst/>
              <a:ahLst/>
              <a:cxnLst/>
              <a:rect r="r" b="b" t="t" l="l"/>
              <a:pathLst>
                <a:path h="682752" w="6980528">
                  <a:moveTo>
                    <a:pt x="0" y="0"/>
                  </a:moveTo>
                  <a:lnTo>
                    <a:pt x="6980528" y="0"/>
                  </a:lnTo>
                  <a:lnTo>
                    <a:pt x="69805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17" r="0" b="-14921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98053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por Área Funcional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941" y="4628502"/>
            <a:ext cx="7547715" cy="27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rPr>
              <a:t>UCI Adultos: estancia más alta y dispersa. Médico-Quirúrgico básico: la más baja. Valida el área como proxy de complejidad.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3680" y="2121408"/>
            <a:ext cx="5230368" cy="512064"/>
            <a:chOff x="0" y="0"/>
            <a:chExt cx="6973824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Pre-pandemia vs Pandemia vs Post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2416" y="5961888"/>
            <a:ext cx="5230368" cy="512064"/>
            <a:chOff x="0" y="0"/>
            <a:chExt cx="6973824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98864" y="2502656"/>
            <a:ext cx="7582957" cy="7430538"/>
            <a:chOff x="0" y="0"/>
            <a:chExt cx="10110610" cy="99073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10597" cy="9907397"/>
            </a:xfrm>
            <a:custGeom>
              <a:avLst/>
              <a:gdLst/>
              <a:ahLst/>
              <a:cxnLst/>
              <a:rect r="r" b="b" t="t" l="l"/>
              <a:pathLst>
                <a:path h="9907397" w="10110597">
                  <a:moveTo>
                    <a:pt x="0" y="0"/>
                  </a:moveTo>
                  <a:lnTo>
                    <a:pt x="10110597" y="0"/>
                  </a:lnTo>
                  <a:lnTo>
                    <a:pt x="10110597" y="9907397"/>
                  </a:lnTo>
                  <a:lnTo>
                    <a:pt x="0" y="9907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091" y="3458013"/>
            <a:ext cx="7367816" cy="1194616"/>
            <a:chOff x="0" y="0"/>
            <a:chExt cx="9823755" cy="1592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789922" cy="1559052"/>
            </a:xfrm>
            <a:custGeom>
              <a:avLst/>
              <a:gdLst/>
              <a:ahLst/>
              <a:cxnLst/>
              <a:rect r="r" b="b" t="t" l="l"/>
              <a:pathLst>
                <a:path h="1559052" w="9789922">
                  <a:moveTo>
                    <a:pt x="0" y="0"/>
                  </a:moveTo>
                  <a:lnTo>
                    <a:pt x="9789922" y="0"/>
                  </a:lnTo>
                  <a:lnTo>
                    <a:pt x="9789922" y="1559052"/>
                  </a:lnTo>
                  <a:lnTo>
                    <a:pt x="0" y="1559052"/>
                  </a:lnTo>
                  <a:close/>
                </a:path>
              </a:pathLst>
            </a:custGeom>
            <a:solidFill>
              <a:srgbClr val="00206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23704" cy="1592834"/>
            </a:xfrm>
            <a:custGeom>
              <a:avLst/>
              <a:gdLst/>
              <a:ahLst/>
              <a:cxnLst/>
              <a:rect r="r" b="b" t="t" l="l"/>
              <a:pathLst>
                <a:path h="1592834" w="9823704">
                  <a:moveTo>
                    <a:pt x="16891" y="0"/>
                  </a:moveTo>
                  <a:lnTo>
                    <a:pt x="9806813" y="0"/>
                  </a:lnTo>
                  <a:cubicBezTo>
                    <a:pt x="9816211" y="0"/>
                    <a:pt x="9823704" y="7620"/>
                    <a:pt x="9823704" y="16891"/>
                  </a:cubicBezTo>
                  <a:lnTo>
                    <a:pt x="9823704" y="1575943"/>
                  </a:lnTo>
                  <a:cubicBezTo>
                    <a:pt x="9823704" y="1585341"/>
                    <a:pt x="9816084" y="1592834"/>
                    <a:pt x="9806813" y="1592834"/>
                  </a:cubicBezTo>
                  <a:lnTo>
                    <a:pt x="16891" y="1592834"/>
                  </a:lnTo>
                  <a:cubicBezTo>
                    <a:pt x="7493" y="1592834"/>
                    <a:pt x="0" y="1585214"/>
                    <a:pt x="0" y="15759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5943"/>
                  </a:lnTo>
                  <a:lnTo>
                    <a:pt x="16891" y="1575943"/>
                  </a:lnTo>
                  <a:lnTo>
                    <a:pt x="16891" y="1559052"/>
                  </a:lnTo>
                  <a:lnTo>
                    <a:pt x="9806813" y="1559052"/>
                  </a:lnTo>
                  <a:lnTo>
                    <a:pt x="9806813" y="1575943"/>
                  </a:lnTo>
                  <a:lnTo>
                    <a:pt x="9789922" y="1575943"/>
                  </a:lnTo>
                  <a:lnTo>
                    <a:pt x="9789922" y="16891"/>
                  </a:lnTo>
                  <a:lnTo>
                    <a:pt x="9806813" y="16891"/>
                  </a:lnTo>
                  <a:lnTo>
                    <a:pt x="980681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0788" y="3799294"/>
            <a:ext cx="7030431" cy="720403"/>
            <a:chOff x="0" y="0"/>
            <a:chExt cx="9373908" cy="960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73912" cy="960537"/>
            </a:xfrm>
            <a:custGeom>
              <a:avLst/>
              <a:gdLst/>
              <a:ahLst/>
              <a:cxnLst/>
              <a:rect r="r" b="b" t="t" l="l"/>
              <a:pathLst>
                <a:path h="960537" w="9373912">
                  <a:moveTo>
                    <a:pt x="0" y="0"/>
                  </a:moveTo>
                  <a:lnTo>
                    <a:pt x="9373912" y="0"/>
                  </a:lnTo>
                  <a:lnTo>
                    <a:pt x="9373912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614" r="0" b="-1256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373908" cy="102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Ocupación vs Estancia  (r = +0.31)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941" y="4628502"/>
            <a:ext cx="7547715" cy="27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rPr>
              <a:t>Relación positiva: mayor saturación → estadías más largas. Posibles cuellos de botella en alta y derivación.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3680" y="2121408"/>
            <a:ext cx="5230368" cy="512064"/>
            <a:chOff x="0" y="0"/>
            <a:chExt cx="6973824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Pre-pandemia vs Pandemia vs Post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2416" y="5961888"/>
            <a:ext cx="5230368" cy="512064"/>
            <a:chOff x="0" y="0"/>
            <a:chExt cx="6973824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98914" y="2842108"/>
            <a:ext cx="7220960" cy="6039688"/>
            <a:chOff x="0" y="0"/>
            <a:chExt cx="9627946" cy="80529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27997" cy="8052943"/>
            </a:xfrm>
            <a:custGeom>
              <a:avLst/>
              <a:gdLst/>
              <a:ahLst/>
              <a:cxnLst/>
              <a:rect r="r" b="b" t="t" l="l"/>
              <a:pathLst>
                <a:path h="8052943" w="9627997">
                  <a:moveTo>
                    <a:pt x="0" y="0"/>
                  </a:moveTo>
                  <a:lnTo>
                    <a:pt x="9627997" y="0"/>
                  </a:lnTo>
                  <a:lnTo>
                    <a:pt x="9627997" y="8052943"/>
                  </a:lnTo>
                  <a:lnTo>
                    <a:pt x="0" y="8052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091" y="3458013"/>
            <a:ext cx="7367816" cy="1194616"/>
            <a:chOff x="0" y="0"/>
            <a:chExt cx="9823755" cy="1592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789922" cy="1559052"/>
            </a:xfrm>
            <a:custGeom>
              <a:avLst/>
              <a:gdLst/>
              <a:ahLst/>
              <a:cxnLst/>
              <a:rect r="r" b="b" t="t" l="l"/>
              <a:pathLst>
                <a:path h="1559052" w="9789922">
                  <a:moveTo>
                    <a:pt x="0" y="0"/>
                  </a:moveTo>
                  <a:lnTo>
                    <a:pt x="9789922" y="0"/>
                  </a:lnTo>
                  <a:lnTo>
                    <a:pt x="9789922" y="1559052"/>
                  </a:lnTo>
                  <a:lnTo>
                    <a:pt x="0" y="1559052"/>
                  </a:lnTo>
                  <a:close/>
                </a:path>
              </a:pathLst>
            </a:custGeom>
            <a:solidFill>
              <a:srgbClr val="7030A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23704" cy="1592834"/>
            </a:xfrm>
            <a:custGeom>
              <a:avLst/>
              <a:gdLst/>
              <a:ahLst/>
              <a:cxnLst/>
              <a:rect r="r" b="b" t="t" l="l"/>
              <a:pathLst>
                <a:path h="1592834" w="9823704">
                  <a:moveTo>
                    <a:pt x="16891" y="0"/>
                  </a:moveTo>
                  <a:lnTo>
                    <a:pt x="9806813" y="0"/>
                  </a:lnTo>
                  <a:cubicBezTo>
                    <a:pt x="9816211" y="0"/>
                    <a:pt x="9823704" y="7620"/>
                    <a:pt x="9823704" y="16891"/>
                  </a:cubicBezTo>
                  <a:lnTo>
                    <a:pt x="9823704" y="1575943"/>
                  </a:lnTo>
                  <a:cubicBezTo>
                    <a:pt x="9823704" y="1585341"/>
                    <a:pt x="9816084" y="1592834"/>
                    <a:pt x="9806813" y="1592834"/>
                  </a:cubicBezTo>
                  <a:lnTo>
                    <a:pt x="16891" y="1592834"/>
                  </a:lnTo>
                  <a:cubicBezTo>
                    <a:pt x="7493" y="1592834"/>
                    <a:pt x="0" y="1585214"/>
                    <a:pt x="0" y="15759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5943"/>
                  </a:lnTo>
                  <a:lnTo>
                    <a:pt x="16891" y="1575943"/>
                  </a:lnTo>
                  <a:lnTo>
                    <a:pt x="16891" y="1559052"/>
                  </a:lnTo>
                  <a:lnTo>
                    <a:pt x="9806813" y="1559052"/>
                  </a:lnTo>
                  <a:lnTo>
                    <a:pt x="9806813" y="1575943"/>
                  </a:lnTo>
                  <a:lnTo>
                    <a:pt x="9789922" y="1575943"/>
                  </a:lnTo>
                  <a:lnTo>
                    <a:pt x="9789922" y="16891"/>
                  </a:lnTo>
                  <a:lnTo>
                    <a:pt x="9806813" y="16891"/>
                  </a:lnTo>
                  <a:lnTo>
                    <a:pt x="980681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030A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0788" y="3799294"/>
            <a:ext cx="7030431" cy="512064"/>
            <a:chOff x="0" y="0"/>
            <a:chExt cx="9373908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73912" cy="682752"/>
            </a:xfrm>
            <a:custGeom>
              <a:avLst/>
              <a:gdLst/>
              <a:ahLst/>
              <a:cxnLst/>
              <a:rect r="r" b="b" t="t" l="l"/>
              <a:pathLst>
                <a:path h="682752" w="9373912">
                  <a:moveTo>
                    <a:pt x="0" y="0"/>
                  </a:moveTo>
                  <a:lnTo>
                    <a:pt x="9373912" y="0"/>
                  </a:lnTo>
                  <a:lnTo>
                    <a:pt x="93739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521" r="0" b="-21752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373908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941" y="4628502"/>
            <a:ext cx="7547715" cy="27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rPr>
              <a:t>Relación negativa: el indicador más asociado con eficiencia. Mayor rotación de camas → menor duración de estadía.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472416" y="5961888"/>
            <a:ext cx="5230368" cy="512064"/>
            <a:chOff x="0" y="0"/>
            <a:chExt cx="6973824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98914" y="3008728"/>
            <a:ext cx="7106641" cy="5906329"/>
            <a:chOff x="0" y="0"/>
            <a:chExt cx="9475521" cy="78751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75470" cy="7875143"/>
            </a:xfrm>
            <a:custGeom>
              <a:avLst/>
              <a:gdLst/>
              <a:ahLst/>
              <a:cxnLst/>
              <a:rect r="r" b="b" t="t" l="l"/>
              <a:pathLst>
                <a:path h="7875143" w="9475470">
                  <a:moveTo>
                    <a:pt x="0" y="0"/>
                  </a:moveTo>
                  <a:lnTo>
                    <a:pt x="9475470" y="0"/>
                  </a:lnTo>
                  <a:lnTo>
                    <a:pt x="9475470" y="7875143"/>
                  </a:lnTo>
                  <a:lnTo>
                    <a:pt x="0" y="7875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de Hipótesis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5399" y="2684783"/>
            <a:ext cx="10266683" cy="537467"/>
            <a:chOff x="0" y="0"/>
            <a:chExt cx="13688911" cy="7166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3655039" cy="682752"/>
            </a:xfrm>
            <a:custGeom>
              <a:avLst/>
              <a:gdLst/>
              <a:ahLst/>
              <a:cxnLst/>
              <a:rect r="r" b="b" t="t" l="l"/>
              <a:pathLst>
                <a:path h="682752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88822" cy="716536"/>
            </a:xfrm>
            <a:custGeom>
              <a:avLst/>
              <a:gdLst/>
              <a:ahLst/>
              <a:cxnLst/>
              <a:rect r="r" b="b" t="t" l="l"/>
              <a:pathLst>
                <a:path h="716536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699643"/>
                  </a:lnTo>
                  <a:cubicBezTo>
                    <a:pt x="13688822" y="709041"/>
                    <a:pt x="13681202" y="716534"/>
                    <a:pt x="1367193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3671930" y="682752"/>
                  </a:lnTo>
                  <a:lnTo>
                    <a:pt x="13671930" y="699643"/>
                  </a:lnTo>
                  <a:lnTo>
                    <a:pt x="13655039" y="699643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697480"/>
            <a:ext cx="2377440" cy="512064"/>
            <a:chOff x="0" y="0"/>
            <a:chExt cx="316992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C4F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H₀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01568" y="2697480"/>
            <a:ext cx="7498080" cy="512064"/>
            <a:chOff x="0" y="0"/>
            <a:chExt cx="999744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Mediana pandemia (2020–21) = Mediana pre-pandemia (2017–19)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5399" y="3233423"/>
            <a:ext cx="10266683" cy="537467"/>
            <a:chOff x="0" y="0"/>
            <a:chExt cx="13688911" cy="7166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3655039" cy="682752"/>
            </a:xfrm>
            <a:custGeom>
              <a:avLst/>
              <a:gdLst/>
              <a:ahLst/>
              <a:cxnLst/>
              <a:rect r="r" b="b" t="t" l="l"/>
              <a:pathLst>
                <a:path h="682752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688822" cy="716536"/>
            </a:xfrm>
            <a:custGeom>
              <a:avLst/>
              <a:gdLst/>
              <a:ahLst/>
              <a:cxnLst/>
              <a:rect r="r" b="b" t="t" l="l"/>
              <a:pathLst>
                <a:path h="716536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699643"/>
                  </a:lnTo>
                  <a:cubicBezTo>
                    <a:pt x="13688822" y="709041"/>
                    <a:pt x="13681202" y="716534"/>
                    <a:pt x="1367193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3671930" y="682752"/>
                  </a:lnTo>
                  <a:lnTo>
                    <a:pt x="13671930" y="699643"/>
                  </a:lnTo>
                  <a:lnTo>
                    <a:pt x="13655039" y="699643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3246120"/>
            <a:ext cx="2377440" cy="512064"/>
            <a:chOff x="0" y="0"/>
            <a:chExt cx="316992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C4F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H₁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401568" y="3246120"/>
            <a:ext cx="7498080" cy="512064"/>
            <a:chOff x="0" y="0"/>
            <a:chExt cx="999744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Mediana pandemia ≠ Mediana pre-pandemia  (test bilateral)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5399" y="3782063"/>
            <a:ext cx="10266683" cy="537467"/>
            <a:chOff x="0" y="0"/>
            <a:chExt cx="13688911" cy="7166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3655039" cy="682752"/>
            </a:xfrm>
            <a:custGeom>
              <a:avLst/>
              <a:gdLst/>
              <a:ahLst/>
              <a:cxnLst/>
              <a:rect r="r" b="b" t="t" l="l"/>
              <a:pathLst>
                <a:path h="682752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688822" cy="716536"/>
            </a:xfrm>
            <a:custGeom>
              <a:avLst/>
              <a:gdLst/>
              <a:ahLst/>
              <a:cxnLst/>
              <a:rect r="r" b="b" t="t" l="l"/>
              <a:pathLst>
                <a:path h="716536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699643"/>
                  </a:lnTo>
                  <a:cubicBezTo>
                    <a:pt x="13688822" y="709041"/>
                    <a:pt x="13681202" y="716534"/>
                    <a:pt x="1367193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3671930" y="682752"/>
                  </a:lnTo>
                  <a:lnTo>
                    <a:pt x="13671930" y="699643"/>
                  </a:lnTo>
                  <a:lnTo>
                    <a:pt x="13655039" y="699643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3794760"/>
            <a:ext cx="2377440" cy="512064"/>
            <a:chOff x="0" y="0"/>
            <a:chExt cx="316992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C4F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Nivel α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401568" y="3794760"/>
            <a:ext cx="7498080" cy="512064"/>
            <a:chOff x="0" y="0"/>
            <a:chExt cx="999744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5399" y="4330703"/>
            <a:ext cx="10266683" cy="537467"/>
            <a:chOff x="0" y="0"/>
            <a:chExt cx="13688911" cy="7166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3655039" cy="682752"/>
            </a:xfrm>
            <a:custGeom>
              <a:avLst/>
              <a:gdLst/>
              <a:ahLst/>
              <a:cxnLst/>
              <a:rect r="r" b="b" t="t" l="l"/>
              <a:pathLst>
                <a:path h="682752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688822" cy="716536"/>
            </a:xfrm>
            <a:custGeom>
              <a:avLst/>
              <a:gdLst/>
              <a:ahLst/>
              <a:cxnLst/>
              <a:rect r="r" b="b" t="t" l="l"/>
              <a:pathLst>
                <a:path h="716536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699643"/>
                  </a:lnTo>
                  <a:cubicBezTo>
                    <a:pt x="13688822" y="709041"/>
                    <a:pt x="13681202" y="716534"/>
                    <a:pt x="1367193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3671930" y="682752"/>
                  </a:lnTo>
                  <a:lnTo>
                    <a:pt x="13671930" y="699643"/>
                  </a:lnTo>
                  <a:lnTo>
                    <a:pt x="13655039" y="699643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4343400"/>
            <a:ext cx="2377440" cy="512064"/>
            <a:chOff x="0" y="0"/>
            <a:chExt cx="316992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C4F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 dep.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401568" y="4343400"/>
            <a:ext cx="7498080" cy="512064"/>
            <a:chOff x="0" y="0"/>
            <a:chExt cx="999744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PROMEDIO_DIAS_ESTADA (continua, asimétrica)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5399" y="4879343"/>
            <a:ext cx="10266683" cy="537467"/>
            <a:chOff x="0" y="0"/>
            <a:chExt cx="13688911" cy="71662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3655039" cy="682752"/>
            </a:xfrm>
            <a:custGeom>
              <a:avLst/>
              <a:gdLst/>
              <a:ahLst/>
              <a:cxnLst/>
              <a:rect r="r" b="b" t="t" l="l"/>
              <a:pathLst>
                <a:path h="682752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688822" cy="716536"/>
            </a:xfrm>
            <a:custGeom>
              <a:avLst/>
              <a:gdLst/>
              <a:ahLst/>
              <a:cxnLst/>
              <a:rect r="r" b="b" t="t" l="l"/>
              <a:pathLst>
                <a:path h="716536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699643"/>
                  </a:lnTo>
                  <a:cubicBezTo>
                    <a:pt x="13688822" y="709041"/>
                    <a:pt x="13681202" y="716534"/>
                    <a:pt x="1367193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3671930" y="682752"/>
                  </a:lnTo>
                  <a:lnTo>
                    <a:pt x="13671930" y="699643"/>
                  </a:lnTo>
                  <a:lnTo>
                    <a:pt x="13655039" y="699643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4892040"/>
            <a:ext cx="2377440" cy="512064"/>
            <a:chOff x="0" y="0"/>
            <a:chExt cx="316992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C4F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 indep.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401568" y="4892040"/>
            <a:ext cx="7498080" cy="512064"/>
            <a:chOff x="0" y="0"/>
            <a:chExt cx="999744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Período: pre-pandemia vs pandemia (categórica binaria)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155680" y="1645920"/>
            <a:ext cx="6583680" cy="5303520"/>
            <a:chOff x="0" y="0"/>
            <a:chExt cx="8778240" cy="7071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78240" cy="7071360"/>
            </a:xfrm>
            <a:custGeom>
              <a:avLst/>
              <a:gdLst/>
              <a:ahLst/>
              <a:cxnLst/>
              <a:rect r="r" b="b" t="t" l="l"/>
              <a:pathLst>
                <a:path h="70713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301984" y="1719072"/>
            <a:ext cx="6291072" cy="512064"/>
            <a:chOff x="0" y="0"/>
            <a:chExt cx="8388096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388096" cy="682752"/>
            </a:xfrm>
            <a:custGeom>
              <a:avLst/>
              <a:gdLst/>
              <a:ahLst/>
              <a:cxnLst/>
              <a:rect r="r" b="b" t="t" l="l"/>
              <a:pathLst>
                <a:path h="682752" w="8388096">
                  <a:moveTo>
                    <a:pt x="0" y="0"/>
                  </a:moveTo>
                  <a:lnTo>
                    <a:pt x="8388096" y="0"/>
                  </a:lnTo>
                  <a:lnTo>
                    <a:pt x="83880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3880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B8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301984" y="2377440"/>
            <a:ext cx="3474720" cy="475488"/>
            <a:chOff x="0" y="0"/>
            <a:chExt cx="4632960" cy="6339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 pre-pandemia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849856" y="2377440"/>
            <a:ext cx="2743200" cy="475488"/>
            <a:chOff x="0" y="0"/>
            <a:chExt cx="3657600" cy="6339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34.593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301984" y="2889504"/>
            <a:ext cx="3474720" cy="475488"/>
            <a:chOff x="0" y="0"/>
            <a:chExt cx="4632960" cy="63398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 pandemia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849856" y="2889504"/>
            <a:ext cx="2743200" cy="475488"/>
            <a:chOff x="0" y="0"/>
            <a:chExt cx="3657600" cy="6339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22.339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301984" y="3401568"/>
            <a:ext cx="3474720" cy="475488"/>
            <a:chOff x="0" y="0"/>
            <a:chExt cx="4632960" cy="63398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Mediana pre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849856" y="3401568"/>
            <a:ext cx="2743200" cy="475488"/>
            <a:chOff x="0" y="0"/>
            <a:chExt cx="3657600" cy="6339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5.53 días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301984" y="3913632"/>
            <a:ext cx="3474720" cy="475488"/>
            <a:chOff x="0" y="0"/>
            <a:chExt cx="4632960" cy="6339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Mediana pandemia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849856" y="3913632"/>
            <a:ext cx="2743200" cy="475488"/>
            <a:chOff x="0" y="0"/>
            <a:chExt cx="3657600" cy="63398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6.38 días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301984" y="4425696"/>
            <a:ext cx="3474720" cy="475488"/>
            <a:chOff x="0" y="0"/>
            <a:chExt cx="4632960" cy="6339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Diferencia mediana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849856" y="4425696"/>
            <a:ext cx="2743200" cy="475488"/>
            <a:chOff x="0" y="0"/>
            <a:chExt cx="3657600" cy="6339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+0.85 días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301984" y="4937760"/>
            <a:ext cx="3474720" cy="475488"/>
            <a:chOff x="0" y="0"/>
            <a:chExt cx="4632960" cy="63398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Estadístico U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849856" y="4937760"/>
            <a:ext cx="2743200" cy="475488"/>
            <a:chOff x="0" y="0"/>
            <a:chExt cx="3657600" cy="6339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359.844.348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301984" y="5449824"/>
            <a:ext cx="3474720" cy="475488"/>
            <a:chOff x="0" y="0"/>
            <a:chExt cx="4632960" cy="63398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Valor p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4849856" y="5449824"/>
            <a:ext cx="2743200" cy="475488"/>
            <a:chOff x="0" y="0"/>
            <a:chExt cx="3657600" cy="63398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 0.001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301984" y="5961888"/>
            <a:ext cx="3474720" cy="475488"/>
            <a:chOff x="0" y="0"/>
            <a:chExt cx="4632960" cy="63398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Tamaño efecto r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4849856" y="5961888"/>
            <a:ext cx="2743200" cy="475488"/>
            <a:chOff x="0" y="0"/>
            <a:chExt cx="3657600" cy="6339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0.069 (pequeño)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548640" y="8101584"/>
            <a:ext cx="17190720" cy="1499616"/>
            <a:chOff x="0" y="0"/>
            <a:chExt cx="22920960" cy="199948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2920961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768096" y="8138160"/>
            <a:ext cx="16751808" cy="548640"/>
            <a:chOff x="0" y="0"/>
            <a:chExt cx="22335744" cy="73152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2335744" cy="731520"/>
            </a:xfrm>
            <a:custGeom>
              <a:avLst/>
              <a:gdLst/>
              <a:ahLst/>
              <a:cxnLst/>
              <a:rect r="r" b="b" t="t" l="l"/>
              <a:pathLst>
                <a:path h="731520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943" r="0" b="-544943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2233574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DECISIÓN: Se RECHAZA H₀  (p &lt; 0.001)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768096" y="8686800"/>
            <a:ext cx="16751808" cy="841248"/>
            <a:chOff x="0" y="0"/>
            <a:chExt cx="22335744" cy="112166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2335744" cy="1121664"/>
            </a:xfrm>
            <a:custGeom>
              <a:avLst/>
              <a:gdLst/>
              <a:ahLst/>
              <a:cxnLst/>
              <a:rect r="r" b="b" t="t" l="l"/>
              <a:pathLst>
                <a:path h="1121664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006" r="0" b="-338006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22335744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pandemia aumentó significativamente la estancia mediana en +0.85 días. El tamaño del efecto pequeño (r = 0.069) indica que la red hospitalaria chilena mostró resiliencia operativa durante la crisis, aunque el impacto fue real y estadísticamente reproducible.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de Regresión Lineal Múltiple — Resultados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633223"/>
            <a:ext cx="17216123" cy="647195"/>
            <a:chOff x="0" y="0"/>
            <a:chExt cx="22954831" cy="8629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920960" cy="829056"/>
            </a:xfrm>
            <a:custGeom>
              <a:avLst/>
              <a:gdLst/>
              <a:ahLst/>
              <a:cxnLst/>
              <a:rect r="r" b="b" t="t" l="l"/>
              <a:pathLst>
                <a:path h="82905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743" cy="862840"/>
            </a:xfrm>
            <a:custGeom>
              <a:avLst/>
              <a:gdLst/>
              <a:ahLst/>
              <a:cxnLst/>
              <a:rect r="r" b="b" t="t" l="l"/>
              <a:pathLst>
                <a:path h="86284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845947"/>
                  </a:lnTo>
                  <a:cubicBezTo>
                    <a:pt x="22954743" y="855345"/>
                    <a:pt x="22947123" y="862838"/>
                    <a:pt x="22937851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22937851" y="829056"/>
                  </a:lnTo>
                  <a:lnTo>
                    <a:pt x="22937851" y="845947"/>
                  </a:lnTo>
                  <a:lnTo>
                    <a:pt x="22920961" y="84594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645920"/>
            <a:ext cx="16824960" cy="621792"/>
            <a:chOff x="0" y="0"/>
            <a:chExt cx="22433280" cy="8290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829056"/>
            </a:xfrm>
            <a:custGeom>
              <a:avLst/>
              <a:gdLst/>
              <a:ahLst/>
              <a:cxnLst/>
              <a:rect r="r" b="b" t="t" l="l"/>
              <a:pathLst>
                <a:path h="82905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433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PROMEDIO_DIAS_ESTADA  ~  INDICE_OCUPACIONAL  +  INDICE_ROTACION  +  pandemia  +  C(area_funcional)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2414016"/>
            <a:ext cx="3840480" cy="1609344"/>
            <a:chOff x="0" y="0"/>
            <a:chExt cx="5120640" cy="2145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0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8640" y="2414016"/>
            <a:ext cx="3840480" cy="933421"/>
            <a:chOff x="0" y="0"/>
            <a:chExt cx="5120640" cy="12445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0" cy="1244560"/>
            </a:xfrm>
            <a:custGeom>
              <a:avLst/>
              <a:gdLst/>
              <a:ahLst/>
              <a:cxnLst/>
              <a:rect r="r" b="b" t="t" l="l"/>
              <a:pathLst>
                <a:path h="124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44560"/>
                  </a:lnTo>
                  <a:lnTo>
                    <a:pt x="0" y="124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69" r="0" b="-3016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5120640" cy="133028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EB8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R² = 0.329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40080" y="3355057"/>
            <a:ext cx="3657600" cy="62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BBDDEE"/>
                </a:solidFill>
                <a:latin typeface="Calibri (MS)"/>
                <a:ea typeface="Calibri (MS)"/>
                <a:cs typeface="Calibri (MS)"/>
                <a:sym typeface="Calibri (MS)"/>
              </a:rPr>
              <a:t>Varianza explicada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901184" y="2414016"/>
            <a:ext cx="3840480" cy="1609344"/>
            <a:chOff x="0" y="0"/>
            <a:chExt cx="5120640" cy="2145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901184" y="2414016"/>
            <a:ext cx="3840480" cy="933421"/>
            <a:chOff x="0" y="0"/>
            <a:chExt cx="5120640" cy="12445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0640" cy="1244560"/>
            </a:xfrm>
            <a:custGeom>
              <a:avLst/>
              <a:gdLst/>
              <a:ahLst/>
              <a:cxnLst/>
              <a:rect r="r" b="b" t="t" l="l"/>
              <a:pathLst>
                <a:path h="124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44560"/>
                  </a:lnTo>
                  <a:lnTo>
                    <a:pt x="0" y="124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69" r="0" b="-3016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5120640" cy="133028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EB8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R² aj. = 0.329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992624" y="3355057"/>
            <a:ext cx="3657600" cy="62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BBDDEE"/>
                </a:solidFill>
                <a:latin typeface="Calibri (MS)"/>
                <a:ea typeface="Calibri (MS)"/>
                <a:cs typeface="Calibri (MS)"/>
                <a:sym typeface="Calibri (MS)"/>
              </a:rPr>
              <a:t>Penalizando vars.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53728" y="2414016"/>
            <a:ext cx="3840480" cy="1609344"/>
            <a:chOff x="0" y="0"/>
            <a:chExt cx="5120640" cy="2145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53728" y="2414016"/>
            <a:ext cx="3840480" cy="933421"/>
            <a:chOff x="0" y="0"/>
            <a:chExt cx="5120640" cy="12445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0640" cy="1244560"/>
            </a:xfrm>
            <a:custGeom>
              <a:avLst/>
              <a:gdLst/>
              <a:ahLst/>
              <a:cxnLst/>
              <a:rect r="r" b="b" t="t" l="l"/>
              <a:pathLst>
                <a:path h="124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44560"/>
                  </a:lnTo>
                  <a:lnTo>
                    <a:pt x="0" y="124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69" r="0" b="-3016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5120640" cy="133028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EB8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 = 6.000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345168" y="3355057"/>
            <a:ext cx="3657600" cy="62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BBDDEE"/>
                </a:solidFill>
                <a:latin typeface="Calibri (MS)"/>
                <a:ea typeface="Calibri (MS)"/>
                <a:cs typeface="Calibri (MS)"/>
                <a:sym typeface="Calibri (MS)"/>
              </a:rPr>
              <a:t>p &lt; 0.001 (global)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606272" y="2414016"/>
            <a:ext cx="3840480" cy="1609344"/>
            <a:chOff x="0" y="0"/>
            <a:chExt cx="5120640" cy="2145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606272" y="2414016"/>
            <a:ext cx="3840480" cy="933421"/>
            <a:chOff x="0" y="0"/>
            <a:chExt cx="5120640" cy="124456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1244560"/>
            </a:xfrm>
            <a:custGeom>
              <a:avLst/>
              <a:gdLst/>
              <a:ahLst/>
              <a:cxnLst/>
              <a:rect r="r" b="b" t="t" l="l"/>
              <a:pathLst>
                <a:path h="124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44560"/>
                  </a:lnTo>
                  <a:lnTo>
                    <a:pt x="0" y="124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69" r="0" b="-3016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85725"/>
              <a:ext cx="5120640" cy="133028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EB8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 = 134.835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3697712" y="3355057"/>
            <a:ext cx="3657600" cy="62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BBDDEE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Registros en modelo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35943" y="4815335"/>
            <a:ext cx="17216123" cy="537467"/>
            <a:chOff x="0" y="0"/>
            <a:chExt cx="22954831" cy="71662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0080" y="4828032"/>
            <a:ext cx="6858000" cy="512064"/>
            <a:chOff x="0" y="0"/>
            <a:chExt cx="91440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89520" y="4828032"/>
            <a:ext cx="1920240" cy="512064"/>
            <a:chOff x="0" y="0"/>
            <a:chExt cx="256032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β (coef.)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0" y="4828032"/>
            <a:ext cx="1737360" cy="512064"/>
            <a:chOff x="0" y="0"/>
            <a:chExt cx="231648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Error Std.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430000" y="4828032"/>
            <a:ext cx="1371600" cy="512064"/>
            <a:chOff x="0" y="0"/>
            <a:chExt cx="182880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893040" y="4828032"/>
            <a:ext cx="4846320" cy="512064"/>
            <a:chOff x="0" y="0"/>
            <a:chExt cx="646176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IC 95%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35943" y="5400551"/>
            <a:ext cx="17216123" cy="537467"/>
            <a:chOff x="0" y="0"/>
            <a:chExt cx="22954831" cy="71662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40080" y="5413248"/>
            <a:ext cx="6858000" cy="512064"/>
            <a:chOff x="0" y="0"/>
            <a:chExt cx="914400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Intercepto  (ref: área 'Otras', no pandemia)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589520" y="5413248"/>
            <a:ext cx="1920240" cy="512064"/>
            <a:chOff x="0" y="0"/>
            <a:chExt cx="256032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7.836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01200" y="5413248"/>
            <a:ext cx="1737360" cy="512064"/>
            <a:chOff x="0" y="0"/>
            <a:chExt cx="231648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0.109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430000" y="5413248"/>
            <a:ext cx="1371600" cy="512064"/>
            <a:chOff x="0" y="0"/>
            <a:chExt cx="182880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72.0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893040" y="5413248"/>
            <a:ext cx="4846320" cy="512064"/>
            <a:chOff x="0" y="0"/>
            <a:chExt cx="646176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( 7.622 ;  8.049 )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35943" y="5949191"/>
            <a:ext cx="17216123" cy="537467"/>
            <a:chOff x="0" y="0"/>
            <a:chExt cx="22954831" cy="71662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0080" y="5961888"/>
            <a:ext cx="6858000" cy="512064"/>
            <a:chOff x="0" y="0"/>
            <a:chExt cx="914400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INDICE_OCUPACIONAL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589520" y="5961888"/>
            <a:ext cx="1920240" cy="512064"/>
            <a:chOff x="0" y="0"/>
            <a:chExt cx="256032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+0.158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601200" y="5961888"/>
            <a:ext cx="1737360" cy="512064"/>
            <a:chOff x="0" y="0"/>
            <a:chExt cx="2316480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0.001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430000" y="5961888"/>
            <a:ext cx="1371600" cy="512064"/>
            <a:chOff x="0" y="0"/>
            <a:chExt cx="1828800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110.7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893040" y="5961888"/>
            <a:ext cx="4846320" cy="512064"/>
            <a:chOff x="0" y="0"/>
            <a:chExt cx="646176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( 0.156 ;  0.161 )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35943" y="6497831"/>
            <a:ext cx="17216123" cy="537467"/>
            <a:chOff x="0" y="0"/>
            <a:chExt cx="22954831" cy="71662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40080" y="6510528"/>
            <a:ext cx="6858000" cy="512064"/>
            <a:chOff x="0" y="0"/>
            <a:chExt cx="914400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INDICE_ROTACION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589520" y="6510528"/>
            <a:ext cx="1920240" cy="512064"/>
            <a:chOff x="0" y="0"/>
            <a:chExt cx="2560320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−1.432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601200" y="6510528"/>
            <a:ext cx="1737360" cy="512064"/>
            <a:chOff x="0" y="0"/>
            <a:chExt cx="2316480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0.011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430000" y="6510528"/>
            <a:ext cx="1371600" cy="512064"/>
            <a:chOff x="0" y="0"/>
            <a:chExt cx="1828800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−131.0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893040" y="6510528"/>
            <a:ext cx="4846320" cy="512064"/>
            <a:chOff x="0" y="0"/>
            <a:chExt cx="6461760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(−1.454 ; −1.411 )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35943" y="7046471"/>
            <a:ext cx="17216123" cy="537467"/>
            <a:chOff x="0" y="0"/>
            <a:chExt cx="22954831" cy="71662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640080" y="7059168"/>
            <a:ext cx="6858000" cy="512064"/>
            <a:chOff x="0" y="0"/>
            <a:chExt cx="9144000" cy="68275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pandemia (2020–21)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7589520" y="7059168"/>
            <a:ext cx="1920240" cy="512064"/>
            <a:chOff x="0" y="0"/>
            <a:chExt cx="2560320" cy="68275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+0.730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601200" y="7059168"/>
            <a:ext cx="1737360" cy="512064"/>
            <a:chOff x="0" y="0"/>
            <a:chExt cx="2316480" cy="68275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0.087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1430000" y="7059168"/>
            <a:ext cx="1371600" cy="512064"/>
            <a:chOff x="0" y="0"/>
            <a:chExt cx="182880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8.4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893040" y="7059168"/>
            <a:ext cx="4846320" cy="512064"/>
            <a:chOff x="0" y="0"/>
            <a:chExt cx="6461760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( 0.559 ;  0.901 )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535943" y="7595111"/>
            <a:ext cx="17216123" cy="537467"/>
            <a:chOff x="0" y="0"/>
            <a:chExt cx="22954831" cy="716623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40080" y="7607808"/>
            <a:ext cx="6858000" cy="512064"/>
            <a:chOff x="0" y="0"/>
            <a:chExt cx="9144000" cy="68275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UCI Adultos vs Otras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7589520" y="7607808"/>
            <a:ext cx="1920240" cy="512064"/>
            <a:chOff x="0" y="0"/>
            <a:chExt cx="2560320" cy="68275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+7.782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601200" y="7607808"/>
            <a:ext cx="1737360" cy="512064"/>
            <a:chOff x="0" y="0"/>
            <a:chExt cx="2316480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0.152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1430000" y="7607808"/>
            <a:ext cx="1371600" cy="512064"/>
            <a:chOff x="0" y="0"/>
            <a:chExt cx="1828800" cy="68275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51.1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893040" y="7607808"/>
            <a:ext cx="4846320" cy="512064"/>
            <a:chOff x="0" y="0"/>
            <a:chExt cx="6461760" cy="68275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( 7.483 ;  8.081 )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535943" y="8143751"/>
            <a:ext cx="17216123" cy="537467"/>
            <a:chOff x="0" y="0"/>
            <a:chExt cx="22954831" cy="716623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640080" y="8156448"/>
            <a:ext cx="6858000" cy="512064"/>
            <a:chOff x="0" y="0"/>
            <a:chExt cx="9144000" cy="68275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Intermedios Adultos vs Otras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7589520" y="8156448"/>
            <a:ext cx="1920240" cy="512064"/>
            <a:chOff x="0" y="0"/>
            <a:chExt cx="2560320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+3.476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601200" y="8156448"/>
            <a:ext cx="1737360" cy="512064"/>
            <a:chOff x="0" y="0"/>
            <a:chExt cx="2316480" cy="68275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0.140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1430000" y="8156448"/>
            <a:ext cx="1371600" cy="512064"/>
            <a:chOff x="0" y="0"/>
            <a:chExt cx="1828800" cy="68275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24.9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2893040" y="8156448"/>
            <a:ext cx="4846320" cy="512064"/>
            <a:chOff x="0" y="0"/>
            <a:chExt cx="6461760" cy="68275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( 3.203 ;  3.750 )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535943" y="8692391"/>
            <a:ext cx="17216123" cy="537467"/>
            <a:chOff x="0" y="0"/>
            <a:chExt cx="22954831" cy="716623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640080" y="8705088"/>
            <a:ext cx="6858000" cy="512064"/>
            <a:chOff x="0" y="0"/>
            <a:chExt cx="9144000" cy="68275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Médico-Quirúrgico Básico vs Otras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7589520" y="8705088"/>
            <a:ext cx="1920240" cy="512064"/>
            <a:chOff x="0" y="0"/>
            <a:chExt cx="2560320" cy="682752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−7.345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601200" y="8705088"/>
            <a:ext cx="1737360" cy="512064"/>
            <a:chOff x="0" y="0"/>
            <a:chExt cx="2316480" cy="682752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0.114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1430000" y="8705088"/>
            <a:ext cx="1371600" cy="512064"/>
            <a:chOff x="0" y="0"/>
            <a:chExt cx="1828800" cy="68275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−64.7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2893040" y="8705088"/>
            <a:ext cx="4846320" cy="512064"/>
            <a:chOff x="0" y="0"/>
            <a:chExt cx="6461760" cy="68275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(−7.568 ; −7.123 )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35943" y="9241031"/>
            <a:ext cx="17216123" cy="537467"/>
            <a:chOff x="0" y="0"/>
            <a:chExt cx="22954831" cy="716623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640080" y="9253728"/>
            <a:ext cx="6858000" cy="512064"/>
            <a:chOff x="0" y="0"/>
            <a:chExt cx="9144000" cy="682752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Obstetricia vs Otras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7589520" y="9253728"/>
            <a:ext cx="1920240" cy="512064"/>
            <a:chOff x="0" y="0"/>
            <a:chExt cx="2560320" cy="68275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−5.774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9601200" y="9253728"/>
            <a:ext cx="1737360" cy="512064"/>
            <a:chOff x="0" y="0"/>
            <a:chExt cx="2316480" cy="68275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0.113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1430000" y="9253728"/>
            <a:ext cx="1371600" cy="512064"/>
            <a:chOff x="0" y="0"/>
            <a:chExt cx="1828800" cy="682752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−51.1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2893040" y="9253728"/>
            <a:ext cx="4846320" cy="512064"/>
            <a:chOff x="0" y="0"/>
            <a:chExt cx="6461760" cy="682752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(−5.995 ; −5.552 )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Interpretación de Coeficientes del Modelo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645920"/>
            <a:ext cx="17190720" cy="1828800"/>
            <a:chOff x="0" y="0"/>
            <a:chExt cx="22920960" cy="243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EF6F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35943" y="1633223"/>
            <a:ext cx="171707" cy="1854203"/>
            <a:chOff x="0" y="0"/>
            <a:chExt cx="228943" cy="24722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41248" y="1755648"/>
            <a:ext cx="804672" cy="512064"/>
            <a:chOff x="0" y="0"/>
            <a:chExt cx="1072896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2896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7" t="0" r="-31647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7289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C4F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β₁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55648" y="1755648"/>
            <a:ext cx="8229600" cy="512064"/>
            <a:chOff x="0" y="0"/>
            <a:chExt cx="1097280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INDICE_OCUPACIONAL = +0.158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41248" y="2304288"/>
            <a:ext cx="16751808" cy="1097280"/>
            <a:chOff x="0" y="0"/>
            <a:chExt cx="22335744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3357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71" r="0" b="-24747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33574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 punto porcentual adicional en la ocupación de camas se asocia con 0.158 días más de estancia. Un servicio al 90% de ocupación tendría, en promedio, 1.58 días más que uno al 80%. Refleja que la saturación genera cuellos de botella que retrasan los procesos de alta.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8640" y="3694176"/>
            <a:ext cx="17190720" cy="1828800"/>
            <a:chOff x="0" y="0"/>
            <a:chExt cx="22920960" cy="2438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920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EF6F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35943" y="3681479"/>
            <a:ext cx="171707" cy="1854203"/>
            <a:chOff x="0" y="0"/>
            <a:chExt cx="228943" cy="24722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41248" y="3803904"/>
            <a:ext cx="804672" cy="512064"/>
            <a:chOff x="0" y="0"/>
            <a:chExt cx="1072896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2896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7" t="0" r="-31647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07289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β₂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55648" y="3803904"/>
            <a:ext cx="8229600" cy="512064"/>
            <a:chOff x="0" y="0"/>
            <a:chExt cx="1097280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INDICE_ROTACION = −1.432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41248" y="4352544"/>
            <a:ext cx="16751808" cy="1097280"/>
            <a:chOff x="0" y="0"/>
            <a:chExt cx="22335744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3357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71" r="0" b="-24747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233574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paciente adicional por cama al mes se asocia con 1.43 días menos de estancia. Es el predictor continuo con mayor impacto en el modelo: gestionar el flujo de pacientes reduce los días de hospitalización más que cualquier otro factor operativo.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48640" y="5742432"/>
            <a:ext cx="17190720" cy="1828800"/>
            <a:chOff x="0" y="0"/>
            <a:chExt cx="22920960" cy="2438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920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EF6F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35943" y="5729735"/>
            <a:ext cx="171707" cy="1854203"/>
            <a:chOff x="0" y="0"/>
            <a:chExt cx="228943" cy="24722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41248" y="5852160"/>
            <a:ext cx="804672" cy="512064"/>
            <a:chOff x="0" y="0"/>
            <a:chExt cx="1072896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2896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7" t="0" r="-31647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7289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β₃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55648" y="5852160"/>
            <a:ext cx="8229600" cy="512064"/>
            <a:chOff x="0" y="0"/>
            <a:chExt cx="1097280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pandemia = +0.730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41248" y="6400800"/>
            <a:ext cx="16751808" cy="1097280"/>
            <a:chOff x="0" y="0"/>
            <a:chExt cx="22335744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3357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71" r="0" b="-24747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233574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Controlando por área, ocupación y rotación, los años 2020–2021 añadieron 0.73 días a la estancia promedio. Confirma el efecto neto del COVID-19 sobre la eficiencia hospitalaria, más allá del incremento de ocupación que también ocurrió en ese período.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8640" y="7790688"/>
            <a:ext cx="17190720" cy="1828800"/>
            <a:chOff x="0" y="0"/>
            <a:chExt cx="22920960" cy="2438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920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EF6F9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35943" y="7777991"/>
            <a:ext cx="171707" cy="1854203"/>
            <a:chOff x="0" y="0"/>
            <a:chExt cx="228943" cy="247227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41248" y="7900416"/>
            <a:ext cx="804672" cy="512064"/>
            <a:chOff x="0" y="0"/>
            <a:chExt cx="1072896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2896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7" t="0" r="-3164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7289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8B451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β₄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55648" y="7900416"/>
            <a:ext cx="8229600" cy="512064"/>
            <a:chOff x="0" y="0"/>
            <a:chExt cx="10972800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UCI Adultos vs Otras = +7.782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41248" y="8449056"/>
            <a:ext cx="16751808" cy="1097280"/>
            <a:chOff x="0" y="0"/>
            <a:chExt cx="22335744" cy="14630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3357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71" r="0" b="-24747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233574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servicios de UCI tienen en promedio 7.78 días más de estancia que la categoría de referencia. Refleja la mayor complejidad clínica de los pacientes críticos y valida que el área funcional actúa correctamente como control de complejidad en el modelo.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Interpretación Preliminar de Hallazgos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6215" y="1844840"/>
            <a:ext cx="17216123" cy="537467"/>
            <a:chOff x="0" y="0"/>
            <a:chExt cx="22954831" cy="7166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85216" y="1857537"/>
            <a:ext cx="16824960" cy="512064"/>
            <a:chOff x="0" y="0"/>
            <a:chExt cx="2243328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682752"/>
            </a:xfrm>
            <a:custGeom>
              <a:avLst/>
              <a:gdLst/>
              <a:ahLst/>
              <a:cxnLst/>
              <a:rect r="r" b="b" t="t" l="l"/>
              <a:pathLst>
                <a:path h="6827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4332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B8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Integración de hallazgos — EDA + test + modelo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7927" y="3498266"/>
            <a:ext cx="391163" cy="391163"/>
            <a:chOff x="0" y="0"/>
            <a:chExt cx="521551" cy="521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60704" y="3419532"/>
            <a:ext cx="6037650" cy="1814438"/>
            <a:chOff x="0" y="0"/>
            <a:chExt cx="8050200" cy="24192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50202" cy="2419251"/>
            </a:xfrm>
            <a:custGeom>
              <a:avLst/>
              <a:gdLst/>
              <a:ahLst/>
              <a:cxnLst/>
              <a:rect r="r" b="b" t="t" l="l"/>
              <a:pathLst>
                <a:path h="2419251" w="8050202">
                  <a:moveTo>
                    <a:pt x="0" y="0"/>
                  </a:moveTo>
                  <a:lnTo>
                    <a:pt x="8050202" y="0"/>
                  </a:lnTo>
                  <a:lnTo>
                    <a:pt x="8050202" y="2419251"/>
                  </a:lnTo>
                  <a:lnTo>
                    <a:pt x="0" y="2419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18" r="0" b="200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050200" cy="2466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tres análisis son coherentes entre sí: la pandemia aumentó la estancia, la rotación alta la reduce, y el área funcional es el control más importante.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9591" y="3498266"/>
            <a:ext cx="391163" cy="391163"/>
            <a:chOff x="0" y="0"/>
            <a:chExt cx="521551" cy="5215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35166" y="3458718"/>
            <a:ext cx="6419088" cy="1814438"/>
            <a:chOff x="0" y="0"/>
            <a:chExt cx="8558784" cy="24192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58784" cy="2419251"/>
            </a:xfrm>
            <a:custGeom>
              <a:avLst/>
              <a:gdLst/>
              <a:ahLst/>
              <a:cxnLst/>
              <a:rect r="r" b="b" t="t" l="l"/>
              <a:pathLst>
                <a:path h="2419251" w="8558784">
                  <a:moveTo>
                    <a:pt x="0" y="0"/>
                  </a:moveTo>
                  <a:lnTo>
                    <a:pt x="8558784" y="0"/>
                  </a:lnTo>
                  <a:lnTo>
                    <a:pt x="8558784" y="2419251"/>
                  </a:lnTo>
                  <a:lnTo>
                    <a:pt x="0" y="2419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15" r="0" b="1594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558784" cy="2466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índice de rotación (β = −1.432) es el predictor operativo con mayor impacto — gestionar el flujo de pacientes importa más que expandir infraestructura.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5943" y="5784599"/>
            <a:ext cx="391163" cy="391163"/>
            <a:chOff x="0" y="0"/>
            <a:chExt cx="521551" cy="5215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60704" y="5802525"/>
            <a:ext cx="6411249" cy="1395338"/>
            <a:chOff x="0" y="0"/>
            <a:chExt cx="8548332" cy="18604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48333" cy="1860451"/>
            </a:xfrm>
            <a:custGeom>
              <a:avLst/>
              <a:gdLst/>
              <a:ahLst/>
              <a:cxnLst/>
              <a:rect r="r" b="b" t="t" l="l"/>
              <a:pathLst>
                <a:path h="1860451" w="8548333">
                  <a:moveTo>
                    <a:pt x="0" y="0"/>
                  </a:moveTo>
                  <a:lnTo>
                    <a:pt x="8548333" y="0"/>
                  </a:lnTo>
                  <a:lnTo>
                    <a:pt x="8548333" y="1860451"/>
                  </a:lnTo>
                  <a:lnTo>
                    <a:pt x="0" y="18604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69" r="0" b="-918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548332" cy="1908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efecto pandemia (+0.73 días, p&lt;0.001) es robusto incluso controlando por ocupación y complejidad clínica.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75718" y="5818556"/>
            <a:ext cx="391163" cy="391163"/>
            <a:chOff x="0" y="0"/>
            <a:chExt cx="521551" cy="5215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35166" y="5861637"/>
            <a:ext cx="7714926" cy="1395338"/>
            <a:chOff x="0" y="0"/>
            <a:chExt cx="10286568" cy="18604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86565" cy="1860451"/>
            </a:xfrm>
            <a:custGeom>
              <a:avLst/>
              <a:gdLst/>
              <a:ahLst/>
              <a:cxnLst/>
              <a:rect r="r" b="b" t="t" l="l"/>
              <a:pathLst>
                <a:path h="1860451" w="10286565">
                  <a:moveTo>
                    <a:pt x="0" y="0"/>
                  </a:moveTo>
                  <a:lnTo>
                    <a:pt x="10286565" y="0"/>
                  </a:lnTo>
                  <a:lnTo>
                    <a:pt x="10286565" y="1860451"/>
                  </a:lnTo>
                  <a:lnTo>
                    <a:pt x="0" y="18604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74" r="0" b="-2739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286568" cy="1908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Hallazgo inesperado: el 100% de la hospitalización aguda es pública — no fue posible comparar eficiencia pública vs privada con este dataset.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Limitaciones y Próximos Pasos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633223"/>
            <a:ext cx="8346443" cy="537467"/>
            <a:chOff x="0" y="0"/>
            <a:chExt cx="11128591" cy="7166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716536"/>
            </a:xfrm>
            <a:custGeom>
              <a:avLst/>
              <a:gdLst/>
              <a:ahLst/>
              <a:cxnLst/>
              <a:rect r="r" b="b" t="t" l="l"/>
              <a:pathLst>
                <a:path h="71653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699643"/>
                  </a:lnTo>
                  <a:cubicBezTo>
                    <a:pt x="11128501" y="709041"/>
                    <a:pt x="11120882" y="716534"/>
                    <a:pt x="1111161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111611" y="682752"/>
                  </a:lnTo>
                  <a:lnTo>
                    <a:pt x="11111611" y="699643"/>
                  </a:lnTo>
                  <a:lnTo>
                    <a:pt x="11094720" y="69964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4944" y="1645920"/>
            <a:ext cx="8028432" cy="512064"/>
            <a:chOff x="0" y="0"/>
            <a:chExt cx="10704576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04576" cy="682752"/>
            </a:xfrm>
            <a:custGeom>
              <a:avLst/>
              <a:gdLst/>
              <a:ahLst/>
              <a:cxnLst/>
              <a:rect r="r" b="b" t="t" l="l"/>
              <a:pathLst>
                <a:path h="682752" w="10704576">
                  <a:moveTo>
                    <a:pt x="0" y="0"/>
                  </a:moveTo>
                  <a:lnTo>
                    <a:pt x="10704576" y="0"/>
                  </a:lnTo>
                  <a:lnTo>
                    <a:pt x="107045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497" r="0" b="-25549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70457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Limitaciones del análisis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255015"/>
            <a:ext cx="8346443" cy="866651"/>
            <a:chOff x="0" y="0"/>
            <a:chExt cx="11128591" cy="11555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0F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5943" y="2255015"/>
            <a:ext cx="135131" cy="866651"/>
            <a:chOff x="0" y="0"/>
            <a:chExt cx="180175" cy="11555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68096" y="2267712"/>
            <a:ext cx="8010144" cy="841248"/>
            <a:chOff x="0" y="0"/>
            <a:chExt cx="10680192" cy="11216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8019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531" r="0" b="-13553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68019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área funcional es un proxy imperfecto de complejidad clínica individual.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3205991"/>
            <a:ext cx="8346443" cy="866651"/>
            <a:chOff x="0" y="0"/>
            <a:chExt cx="11128591" cy="11555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35943" y="3205991"/>
            <a:ext cx="135131" cy="866651"/>
            <a:chOff x="0" y="0"/>
            <a:chExt cx="180175" cy="11555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68096" y="3218688"/>
            <a:ext cx="8010144" cy="841248"/>
            <a:chOff x="0" y="0"/>
            <a:chExt cx="10680192" cy="11216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8019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531" r="0" b="-1355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68019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modelo lineal no ajusta bien estancias extremadamente largas.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5943" y="4156967"/>
            <a:ext cx="8346443" cy="866651"/>
            <a:chOff x="0" y="0"/>
            <a:chExt cx="11128591" cy="11555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0F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35943" y="4156967"/>
            <a:ext cx="135131" cy="866651"/>
            <a:chOff x="0" y="0"/>
            <a:chExt cx="180175" cy="115553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68096" y="4169664"/>
            <a:ext cx="8010144" cy="841248"/>
            <a:chOff x="0" y="0"/>
            <a:chExt cx="10680192" cy="11216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8019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531" r="0" b="-13553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68019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Datos mensuales del mismo hospital no son independientes entre sí.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35943" y="5107943"/>
            <a:ext cx="8346443" cy="866651"/>
            <a:chOff x="0" y="0"/>
            <a:chExt cx="11128591" cy="115553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35943" y="5107943"/>
            <a:ext cx="135131" cy="866651"/>
            <a:chOff x="0" y="0"/>
            <a:chExt cx="180175" cy="115553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8096" y="5120640"/>
            <a:ext cx="8010144" cy="841248"/>
            <a:chOff x="0" y="0"/>
            <a:chExt cx="10680192" cy="11216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8019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531" r="0" b="-13553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68019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impacto de la ocupación podría dispararse por sobre el 85–90%.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35943" y="6058919"/>
            <a:ext cx="8346443" cy="866651"/>
            <a:chOff x="0" y="0"/>
            <a:chExt cx="11128591" cy="115553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0F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35943" y="6058919"/>
            <a:ext cx="135131" cy="866651"/>
            <a:chOff x="0" y="0"/>
            <a:chExt cx="180175" cy="115553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68096" y="6071616"/>
            <a:ext cx="8010144" cy="841248"/>
            <a:chOff x="0" y="0"/>
            <a:chExt cx="10680192" cy="11216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68019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531" r="0" b="-13553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68019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es posible comparar eficiencia pública vs privada en hospitalización aguda.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7009895"/>
            <a:ext cx="8346443" cy="866651"/>
            <a:chOff x="0" y="0"/>
            <a:chExt cx="11128591" cy="115553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35943" y="7009895"/>
            <a:ext cx="135131" cy="866651"/>
            <a:chOff x="0" y="0"/>
            <a:chExt cx="180175" cy="115553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68096" y="7022592"/>
            <a:ext cx="8010144" cy="841248"/>
            <a:chOff x="0" y="0"/>
            <a:chExt cx="10680192" cy="11216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8019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531" r="0" b="-1355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68019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 puede separar el efecto de la gestión del de la gravedad del caso.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05623" y="1633223"/>
            <a:ext cx="8346443" cy="537467"/>
            <a:chOff x="0" y="0"/>
            <a:chExt cx="11128591" cy="71662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128501" cy="716536"/>
            </a:xfrm>
            <a:custGeom>
              <a:avLst/>
              <a:gdLst/>
              <a:ahLst/>
              <a:cxnLst/>
              <a:rect r="r" b="b" t="t" l="l"/>
              <a:pathLst>
                <a:path h="71653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699643"/>
                  </a:lnTo>
                  <a:cubicBezTo>
                    <a:pt x="11128501" y="709041"/>
                    <a:pt x="11120882" y="716534"/>
                    <a:pt x="1111161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111611" y="682752"/>
                  </a:lnTo>
                  <a:lnTo>
                    <a:pt x="11111611" y="699643"/>
                  </a:lnTo>
                  <a:lnTo>
                    <a:pt x="11094720" y="69964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564624" y="1645920"/>
            <a:ext cx="8028432" cy="512064"/>
            <a:chOff x="0" y="0"/>
            <a:chExt cx="10704576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704576" cy="682752"/>
            </a:xfrm>
            <a:custGeom>
              <a:avLst/>
              <a:gdLst/>
              <a:ahLst/>
              <a:cxnLst/>
              <a:rect r="r" b="b" t="t" l="l"/>
              <a:pathLst>
                <a:path h="682752" w="10704576">
                  <a:moveTo>
                    <a:pt x="0" y="0"/>
                  </a:moveTo>
                  <a:lnTo>
                    <a:pt x="10704576" y="0"/>
                  </a:lnTo>
                  <a:lnTo>
                    <a:pt x="107045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497" r="0" b="-25549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70457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Próximos pasos — Avance Final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05623" y="2255015"/>
            <a:ext cx="8346443" cy="866651"/>
            <a:chOff x="0" y="0"/>
            <a:chExt cx="11128591" cy="115553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405623" y="2255015"/>
            <a:ext cx="135131" cy="866651"/>
            <a:chOff x="0" y="0"/>
            <a:chExt cx="180175" cy="115553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797139" y="2267712"/>
            <a:ext cx="7850781" cy="841248"/>
            <a:chOff x="0" y="0"/>
            <a:chExt cx="10467708" cy="11216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4677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67704">
                  <a:moveTo>
                    <a:pt x="0" y="0"/>
                  </a:moveTo>
                  <a:lnTo>
                    <a:pt x="10467704" y="0"/>
                  </a:lnTo>
                  <a:lnTo>
                    <a:pt x="1046770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40" r="0" b="-13184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467708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Comparar estancia por Servicio de Salud (GLOSA_SSS) — brechas geográficas.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405623" y="3205991"/>
            <a:ext cx="8346443" cy="866651"/>
            <a:chOff x="0" y="0"/>
            <a:chExt cx="11128591" cy="115553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405623" y="3205991"/>
            <a:ext cx="135131" cy="866651"/>
            <a:chOff x="0" y="0"/>
            <a:chExt cx="180175" cy="115553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797139" y="3218688"/>
            <a:ext cx="7850781" cy="841248"/>
            <a:chOff x="0" y="0"/>
            <a:chExt cx="10467708" cy="11216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4677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67704">
                  <a:moveTo>
                    <a:pt x="0" y="0"/>
                  </a:moveTo>
                  <a:lnTo>
                    <a:pt x="10467704" y="0"/>
                  </a:lnTo>
                  <a:lnTo>
                    <a:pt x="1046770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40" r="0" b="-13184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467708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Transformación log(PDE) para corregir heterocedasticidad y residuos no normales.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05623" y="4156967"/>
            <a:ext cx="8346443" cy="866651"/>
            <a:chOff x="0" y="0"/>
            <a:chExt cx="11128591" cy="115553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405623" y="4156967"/>
            <a:ext cx="135131" cy="866651"/>
            <a:chOff x="0" y="0"/>
            <a:chExt cx="180175" cy="115553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797139" y="4169664"/>
            <a:ext cx="7850781" cy="841248"/>
            <a:chOff x="0" y="0"/>
            <a:chExt cx="10467708" cy="112166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4677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67704">
                  <a:moveTo>
                    <a:pt x="0" y="0"/>
                  </a:moveTo>
                  <a:lnTo>
                    <a:pt x="10467704" y="0"/>
                  </a:lnTo>
                  <a:lnTo>
                    <a:pt x="1046770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40" r="0" b="-13184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0467708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¿El impacto del COVID-19 fue diferente en UCI vs cuidados básicos?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405623" y="5107943"/>
            <a:ext cx="8346443" cy="866651"/>
            <a:chOff x="0" y="0"/>
            <a:chExt cx="11128591" cy="115553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405623" y="5107943"/>
            <a:ext cx="135131" cy="866651"/>
            <a:chOff x="0" y="0"/>
            <a:chExt cx="180175" cy="115553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797139" y="5120640"/>
            <a:ext cx="7850781" cy="841248"/>
            <a:chOff x="0" y="0"/>
            <a:chExt cx="10467708" cy="112166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4677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67704">
                  <a:moveTo>
                    <a:pt x="0" y="0"/>
                  </a:moveTo>
                  <a:lnTo>
                    <a:pt x="10467704" y="0"/>
                  </a:lnTo>
                  <a:lnTo>
                    <a:pt x="1046770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40" r="0" b="-13184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0467708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¿Retornó el sistema a niveles de eficiencia pre-pandemia?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405623" y="6058919"/>
            <a:ext cx="8346443" cy="866651"/>
            <a:chOff x="0" y="0"/>
            <a:chExt cx="11128591" cy="1155535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405623" y="6058919"/>
            <a:ext cx="135131" cy="866651"/>
            <a:chOff x="0" y="0"/>
            <a:chExt cx="180175" cy="115553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797139" y="6071616"/>
            <a:ext cx="7850781" cy="841248"/>
            <a:chOff x="0" y="0"/>
            <a:chExt cx="10467708" cy="112166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4677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67704">
                  <a:moveTo>
                    <a:pt x="0" y="0"/>
                  </a:moveTo>
                  <a:lnTo>
                    <a:pt x="10467704" y="0"/>
                  </a:lnTo>
                  <a:lnTo>
                    <a:pt x="1046770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40" r="0" b="-13184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0467708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Eficiencia hospitalaria en Latinoamérica — contextualizar hallazgos.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DAHJUBtPaJs</dc:identifier>
  <dcterms:modified xsi:type="dcterms:W3CDTF">2011-08-01T06:04:30Z</dcterms:modified>
  <cp:revision>1</cp:revision>
  <dc:title>avance2</dc:title>
</cp:coreProperties>
</file>